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Noto Sans Bold" charset="1" panose="020B0802040504020204"/>
      <p:regular r:id="rId28"/>
    </p:embeddedFont>
    <p:embeddedFont>
      <p:font typeface="Asap Bold" charset="1" panose="020F0804030202060203"/>
      <p:regular r:id="rId29"/>
    </p:embeddedFont>
    <p:embeddedFont>
      <p:font typeface="Asap" charset="1" panose="020F0504030202060203"/>
      <p:regular r:id="rId30"/>
    </p:embeddedFont>
    <p:embeddedFont>
      <p:font typeface="Be Vietnam Ultra-Bold" charset="1" panose="00000900000000000000"/>
      <p:regular r:id="rId31"/>
    </p:embeddedFont>
    <p:embeddedFont>
      <p:font typeface="Dancing Script Bold" charset="1" panose="03080800040507000D00"/>
      <p:regular r:id="rId32"/>
    </p:embeddedFont>
    <p:embeddedFont>
      <p:font typeface="Asap Semi-Bold" charset="1" panose="020F0704030202060203"/>
      <p:regular r:id="rId33"/>
    </p:embeddedFont>
    <p:embeddedFont>
      <p:font typeface="Asap Medium" charset="1" panose="020F0604030202060203"/>
      <p:regular r:id="rId34"/>
    </p:embeddedFont>
    <p:embeddedFont>
      <p:font typeface="Noto Sans" charset="1" panose="020B0502040504020204"/>
      <p:regular r:id="rId35"/>
    </p:embeddedFont>
    <p:embeddedFont>
      <p:font typeface="Cabin Bold" charset="1" panose="00000800000000000000"/>
      <p:regular r:id="rId36"/>
    </p:embeddedFont>
    <p:embeddedFont>
      <p:font typeface="Cabin" charset="1" panose="00000500000000000000"/>
      <p:regular r:id="rId37"/>
    </p:embeddedFont>
    <p:embeddedFont>
      <p:font typeface="Inter Semi-Bold" charset="1" panose="02000503000000020004"/>
      <p:regular r:id="rId38"/>
    </p:embeddedFont>
    <p:embeddedFont>
      <p:font typeface="Inter Bold" charset="1" panose="02000503000000020004"/>
      <p:regular r:id="rId39"/>
    </p:embeddedFont>
    <p:embeddedFont>
      <p:font typeface="Cabin Semi-Bold" charset="1" panose="00000700000000000000"/>
      <p:regular r:id="rId40"/>
    </p:embeddedFont>
    <p:embeddedFont>
      <p:font typeface="Nunito Bold" charset="1" panose="00000000000000000000"/>
      <p:regular r:id="rId41"/>
    </p:embeddedFont>
    <p:embeddedFont>
      <p:font typeface="Nunito" charset="1" panose="00000000000000000000"/>
      <p:regular r:id="rId42"/>
    </p:embeddedFont>
    <p:embeddedFont>
      <p:font typeface="Roboto Condensed Bold" charset="1" panose="02000000000000000000"/>
      <p:regular r:id="rId43"/>
    </p:embeddedFont>
    <p:embeddedFont>
      <p:font typeface="Roboto Condensed" charset="1" panose="02000000000000000000"/>
      <p:regular r:id="rId44"/>
    </p:embeddedFont>
    <p:embeddedFont>
      <p:font typeface="Quicksand" charset="1" panose="00000000000000000000"/>
      <p:regular r:id="rId45"/>
    </p:embeddedFont>
    <p:embeddedFont>
      <p:font typeface="TT Norms Bold" charset="1" panose="02000803030000020004"/>
      <p:regular r:id="rId46"/>
    </p:embeddedFont>
    <p:embeddedFont>
      <p:font typeface="Josefin Sans" charset="1" panose="00000500000000000000"/>
      <p:regular r:id="rId47"/>
    </p:embeddedFont>
    <p:embeddedFont>
      <p:font typeface="Glacial Indifference Bold" charset="1" panose="00000800000000000000"/>
      <p:regular r:id="rId48"/>
    </p:embeddedFont>
    <p:embeddedFont>
      <p:font typeface="DM Sans Bold" charset="1" panose="00000000000000000000"/>
      <p:regular r:id="rId49"/>
    </p:embeddedFont>
    <p:embeddedFont>
      <p:font typeface="Nomina Bold" charset="1" panose="00000000000000000000"/>
      <p:regular r:id="rId50"/>
    </p:embeddedFont>
    <p:embeddedFont>
      <p:font typeface="DM Sans" charset="1" panose="00000000000000000000"/>
      <p:regular r:id="rId51"/>
    </p:embeddedFont>
    <p:embeddedFont>
      <p:font typeface="Bricolage Grotesque 28 Bold" charset="1" panose="020B0605040402000204"/>
      <p:regular r:id="rId52"/>
    </p:embeddedFont>
    <p:embeddedFont>
      <p:font typeface="Respondent Medium" charset="1" panose="00000000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2" Target="../media/image6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svg" Type="http://schemas.openxmlformats.org/officeDocument/2006/relationships/image"/><Relationship Id="rId2" Target="../media/image6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png" Type="http://schemas.openxmlformats.org/officeDocument/2006/relationships/image"/><Relationship Id="rId12" Target="../media/image58.png" Type="http://schemas.openxmlformats.org/officeDocument/2006/relationships/image"/><Relationship Id="rId13" Target="../media/image59.png" Type="http://schemas.openxmlformats.org/officeDocument/2006/relationships/image"/><Relationship Id="rId14" Target="../media/image60.png" Type="http://schemas.openxmlformats.org/officeDocument/2006/relationships/image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12" Target="../media/image74.png" Type="http://schemas.openxmlformats.org/officeDocument/2006/relationships/image"/><Relationship Id="rId13" Target="../media/image75.png" Type="http://schemas.openxmlformats.org/officeDocument/2006/relationships/image"/><Relationship Id="rId14" Target="../media/image76.png" Type="http://schemas.openxmlformats.org/officeDocument/2006/relationships/image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png" Type="http://schemas.openxmlformats.org/officeDocument/2006/relationships/image"/><Relationship Id="rId12" Target="../media/image87.png" Type="http://schemas.openxmlformats.org/officeDocument/2006/relationships/image"/><Relationship Id="rId13" Target="../media/image88.png" Type="http://schemas.openxmlformats.org/officeDocument/2006/relationships/image"/><Relationship Id="rId14" Target="../media/image89.png" Type="http://schemas.openxmlformats.org/officeDocument/2006/relationships/image"/><Relationship Id="rId2" Target="../media/image77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0" y="0"/>
            <a:ext cx="8763000" cy="10287000"/>
          </a:xfrm>
          <a:custGeom>
            <a:avLst/>
            <a:gdLst/>
            <a:ahLst/>
            <a:cxnLst/>
            <a:rect r="r" b="b" t="t" l="l"/>
            <a:pathLst>
              <a:path h="10287000" w="8763000">
                <a:moveTo>
                  <a:pt x="0" y="0"/>
                </a:moveTo>
                <a:lnTo>
                  <a:pt x="8763000" y="0"/>
                </a:lnTo>
                <a:lnTo>
                  <a:pt x="8763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" r="0" b="-3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096250" y="0"/>
            <a:ext cx="4000500" cy="10287000"/>
            <a:chOff x="0" y="0"/>
            <a:chExt cx="533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03A4A">
                    <a:alpha val="100000"/>
                  </a:srgbClr>
                </a:gs>
                <a:gs pos="100000">
                  <a:srgbClr val="103A4A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33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3805" y="8300243"/>
            <a:ext cx="1115495" cy="47625"/>
            <a:chOff x="0" y="0"/>
            <a:chExt cx="1487326" cy="6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7326" cy="63500"/>
            </a:xfrm>
            <a:custGeom>
              <a:avLst/>
              <a:gdLst/>
              <a:ahLst/>
              <a:cxnLst/>
              <a:rect r="r" b="b" t="t" l="l"/>
              <a:pathLst>
                <a:path h="63500" w="1487326">
                  <a:moveTo>
                    <a:pt x="0" y="0"/>
                  </a:moveTo>
                  <a:lnTo>
                    <a:pt x="1487326" y="0"/>
                  </a:lnTo>
                  <a:lnTo>
                    <a:pt x="1487326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8C91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87326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75305" y="1735773"/>
            <a:ext cx="59055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9"/>
              </a:lnSpc>
            </a:pPr>
            <a:r>
              <a:rPr lang="en-US" sz="5449" b="true">
                <a:solidFill>
                  <a:srgbClr val="C9EEE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OOP  -  NHÓM 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2894" y="3867089"/>
            <a:ext cx="9334500" cy="1985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7149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GIÁM SÁT AO NUÔI TÔM THÔNG MINH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3805" y="6962898"/>
            <a:ext cx="7491333" cy="84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0"/>
              </a:lnSpc>
            </a:pPr>
            <a:r>
              <a:rPr lang="en-US" sz="4886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Smart Aquaculture Monitor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73500" y="419100"/>
            <a:ext cx="95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1650" b="true">
                <a:solidFill>
                  <a:srgbClr val="C9EEE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089343" y="-5608220"/>
            <a:ext cx="14118838" cy="19119260"/>
          </a:xfrm>
          <a:custGeom>
            <a:avLst/>
            <a:gdLst/>
            <a:ahLst/>
            <a:cxnLst/>
            <a:rect r="r" b="b" t="t" l="l"/>
            <a:pathLst>
              <a:path h="19119260" w="14118838">
                <a:moveTo>
                  <a:pt x="0" y="0"/>
                </a:moveTo>
                <a:lnTo>
                  <a:pt x="14118839" y="0"/>
                </a:lnTo>
                <a:lnTo>
                  <a:pt x="14118839" y="19119260"/>
                </a:lnTo>
                <a:lnTo>
                  <a:pt x="0" y="19119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85342" y="274244"/>
            <a:ext cx="11717316" cy="101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5"/>
              </a:lnSpc>
            </a:pPr>
            <a:r>
              <a:rPr lang="en-US" sz="7824" b="true">
                <a:solidFill>
                  <a:srgbClr val="42321F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Danh sách thành viên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35459" y="1293203"/>
          <a:ext cx="16240125" cy="8057961"/>
        </p:xfrm>
        <a:graphic>
          <a:graphicData uri="http://schemas.openxmlformats.org/drawingml/2006/table">
            <a:tbl>
              <a:tblPr/>
              <a:tblGrid>
                <a:gridCol w="7932371"/>
                <a:gridCol w="8307754"/>
              </a:tblGrid>
              <a:tr h="7351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6F3EA"/>
                          </a:solidFill>
                          <a:latin typeface="Asap Semi-Bold"/>
                          <a:ea typeface="Asap Semi-Bold"/>
                          <a:cs typeface="Asap Semi-Bold"/>
                          <a:sym typeface="Asap Semi-Bold"/>
                        </a:rPr>
                        <a:t>Họ và tên thành viên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C48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6F3EA"/>
                          </a:solidFill>
                          <a:latin typeface="Asap Semi-Bold"/>
                          <a:ea typeface="Asap Semi-Bold"/>
                          <a:cs typeface="Asap Semi-Bold"/>
                          <a:sym typeface="Asap Semi-Bold"/>
                        </a:rPr>
                        <a:t>Mã số sinh viên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C48D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42321F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Đào Thế Quân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N24DCAT060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Trần Nguyễn Cầu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42321F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N24DCAT010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Nguyễn Hoàng Hưng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42321F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N24DCAT031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42321F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Lê Hồng Phát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42321F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N24DCAT054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Chiêm Lâm Khánh Tân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N24DCAT070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42321F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Trần Nhật Tiến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N24DCAT079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42321F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Nguyễn Ngọc Quy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N24DCAT064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Lê Hữu Phát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N24DCAT055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Nguyễn Tấn Phát 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N24DCAT056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732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Trần Phú Cường 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42321F"/>
                          </a:solidFill>
                          <a:latin typeface="Asap Medium"/>
                          <a:ea typeface="Asap Medium"/>
                          <a:cs typeface="Asap Medium"/>
                          <a:sym typeface="Asap Medium"/>
                        </a:rPr>
                        <a:t>N21DCAT008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232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5790218" y="1028700"/>
            <a:ext cx="446602" cy="512800"/>
          </a:xfrm>
          <a:custGeom>
            <a:avLst/>
            <a:gdLst/>
            <a:ahLst/>
            <a:cxnLst/>
            <a:rect r="r" b="b" t="t" l="l"/>
            <a:pathLst>
              <a:path h="512800" w="446602">
                <a:moveTo>
                  <a:pt x="0" y="0"/>
                </a:moveTo>
                <a:lnTo>
                  <a:pt x="446602" y="0"/>
                </a:lnTo>
                <a:lnTo>
                  <a:pt x="446602" y="512800"/>
                </a:lnTo>
                <a:lnTo>
                  <a:pt x="0" y="512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41423" y="3054235"/>
            <a:ext cx="444778" cy="510706"/>
          </a:xfrm>
          <a:custGeom>
            <a:avLst/>
            <a:gdLst/>
            <a:ahLst/>
            <a:cxnLst/>
            <a:rect r="r" b="b" t="t" l="l"/>
            <a:pathLst>
              <a:path h="510706" w="444778">
                <a:moveTo>
                  <a:pt x="0" y="0"/>
                </a:moveTo>
                <a:lnTo>
                  <a:pt x="444779" y="0"/>
                </a:lnTo>
                <a:lnTo>
                  <a:pt x="444779" y="510706"/>
                </a:lnTo>
                <a:lnTo>
                  <a:pt x="0" y="510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05839" y="9462754"/>
            <a:ext cx="306125" cy="351500"/>
          </a:xfrm>
          <a:custGeom>
            <a:avLst/>
            <a:gdLst/>
            <a:ahLst/>
            <a:cxnLst/>
            <a:rect r="r" b="b" t="t" l="l"/>
            <a:pathLst>
              <a:path h="351500" w="306125">
                <a:moveTo>
                  <a:pt x="0" y="0"/>
                </a:moveTo>
                <a:lnTo>
                  <a:pt x="306125" y="0"/>
                </a:lnTo>
                <a:lnTo>
                  <a:pt x="306125" y="351501"/>
                </a:lnTo>
                <a:lnTo>
                  <a:pt x="0" y="351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60456" y="9638505"/>
            <a:ext cx="306125" cy="351500"/>
          </a:xfrm>
          <a:custGeom>
            <a:avLst/>
            <a:gdLst/>
            <a:ahLst/>
            <a:cxnLst/>
            <a:rect r="r" b="b" t="t" l="l"/>
            <a:pathLst>
              <a:path h="351500" w="306125">
                <a:moveTo>
                  <a:pt x="0" y="0"/>
                </a:moveTo>
                <a:lnTo>
                  <a:pt x="306125" y="0"/>
                </a:lnTo>
                <a:lnTo>
                  <a:pt x="306125" y="351500"/>
                </a:lnTo>
                <a:lnTo>
                  <a:pt x="0" y="35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8200" y="723900"/>
            <a:ext cx="11811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750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Phát hiện biến động, hỗ trợ phản ứng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1343025"/>
            <a:ext cx="1047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Từ tín hiệu cảm biến đến trạng thái dễ nhận biết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620250" y="2381250"/>
            <a:ext cx="7810500" cy="6381750"/>
          </a:xfrm>
          <a:custGeom>
            <a:avLst/>
            <a:gdLst/>
            <a:ahLst/>
            <a:cxnLst/>
            <a:rect r="r" b="b" t="t" l="l"/>
            <a:pathLst>
              <a:path h="6381750" w="7810500">
                <a:moveTo>
                  <a:pt x="0" y="0"/>
                </a:moveTo>
                <a:lnTo>
                  <a:pt x="7810500" y="0"/>
                </a:lnTo>
                <a:lnTo>
                  <a:pt x="7810500" y="6381750"/>
                </a:lnTo>
                <a:lnTo>
                  <a:pt x="0" y="638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" t="0" r="-5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838200" y="2667000"/>
            <a:ext cx="7524750" cy="1428750"/>
            <a:chOff x="0" y="0"/>
            <a:chExt cx="10033000" cy="1905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33000" cy="1905000"/>
              <a:chOff x="0" y="0"/>
              <a:chExt cx="10033000" cy="1905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033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033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58800" y="381000"/>
              <a:ext cx="863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Biến động chỉ số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58800" y="952500"/>
              <a:ext cx="863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03A4A"/>
                  </a:solidFill>
                  <a:latin typeface="Noto Sans"/>
                  <a:ea typeface="Noto Sans"/>
                  <a:cs typeface="Noto Sans"/>
                  <a:sym typeface="Noto Sans"/>
                </a:rPr>
                <a:t>Nhiệt độ • pH • DO • độ mặn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7250" y="5143500"/>
            <a:ext cx="7524750" cy="1428750"/>
            <a:chOff x="0" y="0"/>
            <a:chExt cx="10033000" cy="1905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033000" cy="1905000"/>
              <a:chOff x="0" y="0"/>
              <a:chExt cx="10033000" cy="1905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033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033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58800" y="381000"/>
              <a:ext cx="863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Quan sát tập trung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58800" y="952500"/>
              <a:ext cx="863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03A4A"/>
                  </a:solidFill>
                  <a:latin typeface="Noto Sans"/>
                  <a:ea typeface="Noto Sans"/>
                  <a:cs typeface="Noto Sans"/>
                  <a:sym typeface="Noto Sans"/>
                </a:rPr>
                <a:t>X</a:t>
              </a:r>
              <a:r>
                <a:rPr lang="en-US" sz="1875">
                  <a:solidFill>
                    <a:srgbClr val="103A4A"/>
                  </a:solidFill>
                  <a:latin typeface="Noto Sans"/>
                  <a:ea typeface="Noto Sans"/>
                  <a:cs typeface="Noto Sans"/>
                  <a:sym typeface="Noto Sans"/>
                </a:rPr>
                <a:t>em trạng thái trên dashboard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7250" y="7621202"/>
            <a:ext cx="7524750" cy="1428750"/>
            <a:chOff x="0" y="0"/>
            <a:chExt cx="10033000" cy="1905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033000" cy="1905000"/>
              <a:chOff x="0" y="0"/>
              <a:chExt cx="10033000" cy="1905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033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FF1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033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58800" y="381000"/>
              <a:ext cx="863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Phản ứng theo ngưỡng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58800" y="952500"/>
              <a:ext cx="8636000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03A4A"/>
                  </a:solidFill>
                  <a:latin typeface="Noto Sans"/>
                  <a:ea typeface="Noto Sans"/>
                  <a:cs typeface="Noto Sans"/>
                  <a:sym typeface="Noto Sans"/>
                </a:rPr>
                <a:t>Đổi màu và phát cảnh báo khi vượt giới hạn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5472539">
            <a:off x="3972500" y="4396476"/>
            <a:ext cx="792037" cy="447501"/>
          </a:xfrm>
          <a:custGeom>
            <a:avLst/>
            <a:gdLst/>
            <a:ahLst/>
            <a:cxnLst/>
            <a:rect r="r" b="b" t="t" l="l"/>
            <a:pathLst>
              <a:path h="447501" w="792037">
                <a:moveTo>
                  <a:pt x="0" y="0"/>
                </a:moveTo>
                <a:lnTo>
                  <a:pt x="792037" y="0"/>
                </a:lnTo>
                <a:lnTo>
                  <a:pt x="792037" y="447500"/>
                </a:lnTo>
                <a:lnTo>
                  <a:pt x="0" y="447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72539">
            <a:off x="3972500" y="6872976"/>
            <a:ext cx="792037" cy="447501"/>
          </a:xfrm>
          <a:custGeom>
            <a:avLst/>
            <a:gdLst/>
            <a:ahLst/>
            <a:cxnLst/>
            <a:rect r="r" b="b" t="t" l="l"/>
            <a:pathLst>
              <a:path h="447501" w="792037">
                <a:moveTo>
                  <a:pt x="0" y="0"/>
                </a:moveTo>
                <a:lnTo>
                  <a:pt x="792037" y="0"/>
                </a:lnTo>
                <a:lnTo>
                  <a:pt x="792037" y="447500"/>
                </a:lnTo>
                <a:lnTo>
                  <a:pt x="0" y="447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8200" y="723900"/>
            <a:ext cx="11811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750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Theo dõi bốn chỉ số chất lượng nước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7250" y="1343025"/>
            <a:ext cx="1047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Ngưỡng mô phỏng theo đề — không phải khuyến cáo nuôi trồng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38200" y="2476500"/>
            <a:ext cx="7524750" cy="2381250"/>
            <a:chOff x="0" y="0"/>
            <a:chExt cx="10033000" cy="3175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033000" cy="3175000"/>
              <a:chOff x="0" y="0"/>
              <a:chExt cx="10033000" cy="3175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033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033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8255000" y="660400"/>
              <a:ext cx="914400" cy="914400"/>
              <a:chOff x="0" y="0"/>
              <a:chExt cx="914400" cy="914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008C9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914400" cy="942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sz="1350" b="true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°C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33400" y="482600"/>
              <a:ext cx="6604000" cy="33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NHIỆT ĐỘ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33400" y="1225550"/>
              <a:ext cx="7874000" cy="916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10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26–32 °C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24950" y="2476500"/>
            <a:ext cx="7524750" cy="2381250"/>
            <a:chOff x="0" y="0"/>
            <a:chExt cx="10033000" cy="3175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033000" cy="3175000"/>
              <a:chOff x="0" y="0"/>
              <a:chExt cx="10033000" cy="3175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033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033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8255000" y="660400"/>
              <a:ext cx="914400" cy="914400"/>
              <a:chOff x="0" y="0"/>
              <a:chExt cx="914400" cy="914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008C9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914400" cy="942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sz="1350" b="true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pH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33400" y="482600"/>
              <a:ext cx="6604000" cy="33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33400" y="1225550"/>
              <a:ext cx="7874000" cy="916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10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7,5–8,5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8200" y="5619750"/>
            <a:ext cx="7524750" cy="2381250"/>
            <a:chOff x="0" y="0"/>
            <a:chExt cx="10033000" cy="3175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033000" cy="3175000"/>
              <a:chOff x="0" y="0"/>
              <a:chExt cx="10033000" cy="3175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033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C9EE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033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255000" y="660400"/>
              <a:ext cx="914400" cy="914400"/>
              <a:chOff x="0" y="0"/>
              <a:chExt cx="914400" cy="914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008C9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914400" cy="942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sz="1350" b="true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DO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33400" y="482600"/>
              <a:ext cx="6604000" cy="33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OXY HÒA TAN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33400" y="1225550"/>
              <a:ext cx="7874000" cy="916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10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≥ 4 mg/L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24950" y="5619750"/>
            <a:ext cx="7524750" cy="2381250"/>
            <a:chOff x="0" y="0"/>
            <a:chExt cx="10033000" cy="3175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0033000" cy="3175000"/>
              <a:chOff x="0" y="0"/>
              <a:chExt cx="10033000" cy="3175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033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0033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8255000" y="660400"/>
              <a:ext cx="914400" cy="914400"/>
              <a:chOff x="0" y="0"/>
              <a:chExt cx="914400" cy="914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14400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400">
                    <a:moveTo>
                      <a:pt x="457200" y="0"/>
                    </a:moveTo>
                    <a:cubicBezTo>
                      <a:pt x="709705" y="0"/>
                      <a:pt x="914400" y="204695"/>
                      <a:pt x="914400" y="457200"/>
                    </a:cubicBezTo>
                    <a:cubicBezTo>
                      <a:pt x="914400" y="709705"/>
                      <a:pt x="709705" y="914400"/>
                      <a:pt x="457200" y="914400"/>
                    </a:cubicBezTo>
                    <a:cubicBezTo>
                      <a:pt x="204695" y="914400"/>
                      <a:pt x="0" y="709705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008C9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914400" cy="942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  <a:r>
                  <a:rPr lang="en-US" sz="1350" b="true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‰</a:t>
                </a: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533400" y="482600"/>
              <a:ext cx="6604000" cy="33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ĐỘ MẶN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533400" y="1225550"/>
              <a:ext cx="7874000" cy="916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10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10–25 ‰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76300" y="2254377"/>
            <a:ext cx="0" cy="13906500"/>
          </a:xfrm>
          <a:prstGeom prst="line">
            <a:avLst/>
          </a:prstGeom>
          <a:ln cap="rnd" w="76200">
            <a:solidFill>
              <a:srgbClr val="008C9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38125" y="2214660"/>
            <a:ext cx="1238250" cy="1238250"/>
            <a:chOff x="0" y="0"/>
            <a:chExt cx="1651000" cy="165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651000">
                  <a:moveTo>
                    <a:pt x="825500" y="0"/>
                  </a:moveTo>
                  <a:cubicBezTo>
                    <a:pt x="1281411" y="0"/>
                    <a:pt x="1651000" y="369589"/>
                    <a:pt x="1651000" y="825500"/>
                  </a:cubicBezTo>
                  <a:cubicBezTo>
                    <a:pt x="1651000" y="1281411"/>
                    <a:pt x="1281411" y="1651000"/>
                    <a:pt x="825500" y="1651000"/>
                  </a:cubicBezTo>
                  <a:cubicBezTo>
                    <a:pt x="369589" y="1651000"/>
                    <a:pt x="0" y="1281411"/>
                    <a:pt x="0" y="825500"/>
                  </a:cubicBezTo>
                  <a:cubicBezTo>
                    <a:pt x="0" y="369589"/>
                    <a:pt x="369589" y="0"/>
                    <a:pt x="825500" y="0"/>
                  </a:cubicBezTo>
                  <a:close/>
                </a:path>
              </a:pathLst>
            </a:custGeom>
            <a:solidFill>
              <a:srgbClr val="008C9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7175" y="4414935"/>
            <a:ext cx="1238250" cy="1238250"/>
            <a:chOff x="0" y="0"/>
            <a:chExt cx="1651000" cy="165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651000">
                  <a:moveTo>
                    <a:pt x="825500" y="0"/>
                  </a:moveTo>
                  <a:cubicBezTo>
                    <a:pt x="1281411" y="0"/>
                    <a:pt x="1651000" y="369589"/>
                    <a:pt x="1651000" y="825500"/>
                  </a:cubicBezTo>
                  <a:cubicBezTo>
                    <a:pt x="1651000" y="1281411"/>
                    <a:pt x="1281411" y="1651000"/>
                    <a:pt x="825500" y="1651000"/>
                  </a:cubicBezTo>
                  <a:cubicBezTo>
                    <a:pt x="369589" y="1651000"/>
                    <a:pt x="0" y="1281411"/>
                    <a:pt x="0" y="825500"/>
                  </a:cubicBezTo>
                  <a:cubicBezTo>
                    <a:pt x="0" y="369589"/>
                    <a:pt x="369589" y="0"/>
                    <a:pt x="825500" y="0"/>
                  </a:cubicBezTo>
                  <a:close/>
                </a:path>
              </a:pathLst>
            </a:custGeom>
            <a:solidFill>
              <a:srgbClr val="ED6A5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9075" y="6615210"/>
            <a:ext cx="1238250" cy="1238250"/>
            <a:chOff x="0" y="0"/>
            <a:chExt cx="165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651000">
                  <a:moveTo>
                    <a:pt x="825500" y="0"/>
                  </a:moveTo>
                  <a:cubicBezTo>
                    <a:pt x="1281411" y="0"/>
                    <a:pt x="1651000" y="369589"/>
                    <a:pt x="1651000" y="825500"/>
                  </a:cubicBezTo>
                  <a:cubicBezTo>
                    <a:pt x="1651000" y="1281411"/>
                    <a:pt x="1281411" y="1651000"/>
                    <a:pt x="825500" y="1651000"/>
                  </a:cubicBezTo>
                  <a:cubicBezTo>
                    <a:pt x="369589" y="1651000"/>
                    <a:pt x="0" y="1281411"/>
                    <a:pt x="0" y="825500"/>
                  </a:cubicBezTo>
                  <a:cubicBezTo>
                    <a:pt x="0" y="369589"/>
                    <a:pt x="369589" y="0"/>
                    <a:pt x="825500" y="0"/>
                  </a:cubicBezTo>
                  <a:close/>
                </a:path>
              </a:pathLst>
            </a:custGeom>
            <a:solidFill>
              <a:srgbClr val="008C91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7175" y="8639175"/>
            <a:ext cx="1238250" cy="1238250"/>
            <a:chOff x="0" y="0"/>
            <a:chExt cx="1651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651000">
                  <a:moveTo>
                    <a:pt x="825500" y="0"/>
                  </a:moveTo>
                  <a:cubicBezTo>
                    <a:pt x="1281411" y="0"/>
                    <a:pt x="1651000" y="369589"/>
                    <a:pt x="1651000" y="825500"/>
                  </a:cubicBezTo>
                  <a:cubicBezTo>
                    <a:pt x="1651000" y="1281411"/>
                    <a:pt x="1281411" y="1651000"/>
                    <a:pt x="825500" y="1651000"/>
                  </a:cubicBezTo>
                  <a:cubicBezTo>
                    <a:pt x="369589" y="1651000"/>
                    <a:pt x="0" y="1281411"/>
                    <a:pt x="0" y="825500"/>
                  </a:cubicBezTo>
                  <a:cubicBezTo>
                    <a:pt x="0" y="369589"/>
                    <a:pt x="369589" y="0"/>
                    <a:pt x="825500" y="0"/>
                  </a:cubicBezTo>
                  <a:close/>
                </a:path>
              </a:pathLst>
            </a:custGeom>
            <a:solidFill>
              <a:srgbClr val="008C91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51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923824" y="2475748"/>
            <a:ext cx="11532501" cy="6782552"/>
          </a:xfrm>
          <a:custGeom>
            <a:avLst/>
            <a:gdLst/>
            <a:ahLst/>
            <a:cxnLst/>
            <a:rect r="r" b="b" t="t" l="l"/>
            <a:pathLst>
              <a:path h="6782552" w="11532501">
                <a:moveTo>
                  <a:pt x="0" y="0"/>
                </a:moveTo>
                <a:lnTo>
                  <a:pt x="11532501" y="0"/>
                </a:lnTo>
                <a:lnTo>
                  <a:pt x="11532501" y="6782552"/>
                </a:lnTo>
                <a:lnTo>
                  <a:pt x="0" y="6782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38200" y="723900"/>
            <a:ext cx="11811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75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Kịch bản demo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1343025"/>
            <a:ext cx="1047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Một mạch kể chuyện rõ ràng, có ảnh dự phòng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1950" y="2613948"/>
            <a:ext cx="952500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sz="255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82790" y="2575560"/>
            <a:ext cx="2872643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250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Mở dashboard</a:t>
            </a:r>
          </a:p>
          <a:p>
            <a:pPr algn="ctr">
              <a:lnSpc>
                <a:spcPts val="243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400050" y="4812699"/>
            <a:ext cx="952500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sz="255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58761" y="4518660"/>
            <a:ext cx="3303063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250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Chờ DO giảm</a:t>
            </a:r>
          </a:p>
          <a:p>
            <a:pPr algn="ctr">
              <a:lnSpc>
                <a:spcPts val="243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61950" y="7015260"/>
            <a:ext cx="952500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sz="255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40395" y="6818664"/>
            <a:ext cx="32385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250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Điều chỉnh ngưỡng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5832" y="7137561"/>
            <a:ext cx="323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ThresholdDialog lưu giá trị hợp lệ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1950" y="8992933"/>
            <a:ext cx="952500" cy="35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sz="255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5832" y="8762428"/>
            <a:ext cx="32385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250" b="true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Theo dõi biểu đồ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5832" y="9117139"/>
            <a:ext cx="323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Dữ liệu tiếp tục cập nhật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75832" y="2891790"/>
            <a:ext cx="323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Quan </a:t>
            </a:r>
            <a:r>
              <a:rPr lang="en-US" sz="1575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sát dữ liệu mô phỏng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58761" y="4831461"/>
            <a:ext cx="323850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G</a:t>
            </a:r>
            <a:r>
              <a:rPr lang="en-US" sz="1575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auge DO chuyển đỏ; bảng ghi thêm dòng cảnh báo.</a:t>
            </a:r>
          </a:p>
          <a:p>
            <a:pPr algn="ctr">
              <a:lnSpc>
                <a:spcPts val="2204"/>
              </a:lnSpc>
            </a:pPr>
          </a:p>
          <a:p>
            <a:pPr algn="ctr">
              <a:lnSpc>
                <a:spcPts val="220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4354" y="1780409"/>
            <a:ext cx="12839293" cy="7567158"/>
          </a:xfrm>
          <a:custGeom>
            <a:avLst/>
            <a:gdLst/>
            <a:ahLst/>
            <a:cxnLst/>
            <a:rect r="r" b="b" t="t" l="l"/>
            <a:pathLst>
              <a:path h="7567158" w="12839293">
                <a:moveTo>
                  <a:pt x="0" y="0"/>
                </a:moveTo>
                <a:lnTo>
                  <a:pt x="12839292" y="0"/>
                </a:lnTo>
                <a:lnTo>
                  <a:pt x="12839292" y="7567159"/>
                </a:lnTo>
                <a:lnTo>
                  <a:pt x="0" y="7567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8200" y="723900"/>
            <a:ext cx="11811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750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Giao diện giám sát ao nuôi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60022" y="9680978"/>
            <a:ext cx="1047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Tất cả giá trị hiển thị là dữ liệu mô phỏng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8200" y="723900"/>
            <a:ext cx="11811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750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Giữ nhật ký gọn, theo dõi liên tục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4376" y="8976360"/>
            <a:ext cx="1047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LogTableModel chỉ giữ 200 dòng gần nhất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3500" y="2476500"/>
            <a:ext cx="6191250" cy="6191250"/>
            <a:chOff x="0" y="0"/>
            <a:chExt cx="8255000" cy="825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5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8255000">
                  <a:moveTo>
                    <a:pt x="4127500" y="0"/>
                  </a:moveTo>
                  <a:cubicBezTo>
                    <a:pt x="6407055" y="0"/>
                    <a:pt x="8255000" y="1847945"/>
                    <a:pt x="8255000" y="4127500"/>
                  </a:cubicBezTo>
                  <a:cubicBezTo>
                    <a:pt x="8255000" y="6407055"/>
                    <a:pt x="6407055" y="8255000"/>
                    <a:pt x="4127500" y="8255000"/>
                  </a:cubicBezTo>
                  <a:cubicBezTo>
                    <a:pt x="1847945" y="8255000"/>
                    <a:pt x="0" y="6407055"/>
                    <a:pt x="0" y="4127500"/>
                  </a:cubicBezTo>
                  <a:cubicBezTo>
                    <a:pt x="0" y="1847945"/>
                    <a:pt x="1847945" y="0"/>
                    <a:pt x="4127500" y="0"/>
                  </a:cubicBezTo>
                  <a:close/>
                </a:path>
              </a:pathLst>
            </a:custGeom>
            <a:solidFill>
              <a:srgbClr val="C9EEE3"/>
            </a:solidFill>
            <a:ln w="342900" cap="sq">
              <a:solidFill>
                <a:srgbClr val="008C9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255000" cy="832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09"/>
                </a:lnSpc>
              </a:pPr>
              <a:r>
                <a:rPr lang="en-US" sz="3150" b="true">
                  <a:solidFill>
                    <a:srgbClr val="10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200</a:t>
              </a:r>
            </a:p>
            <a:p>
              <a:pPr algn="ctr">
                <a:lnSpc>
                  <a:spcPts val="4409"/>
                </a:lnSpc>
              </a:pPr>
              <a:r>
                <a:rPr lang="en-US" sz="3150" b="true">
                  <a:solidFill>
                    <a:srgbClr val="10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DÒNG GẦN NHẤT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786673" y="2959507"/>
            <a:ext cx="6211181" cy="1315352"/>
          </a:xfrm>
          <a:custGeom>
            <a:avLst/>
            <a:gdLst/>
            <a:ahLst/>
            <a:cxnLst/>
            <a:rect r="r" b="b" t="t" l="l"/>
            <a:pathLst>
              <a:path h="1315352" w="6211181">
                <a:moveTo>
                  <a:pt x="0" y="0"/>
                </a:moveTo>
                <a:lnTo>
                  <a:pt x="6211181" y="0"/>
                </a:lnTo>
                <a:lnTo>
                  <a:pt x="6211181" y="1315352"/>
                </a:lnTo>
                <a:lnTo>
                  <a:pt x="0" y="1315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0492" r="0" b="-540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334500" y="3171825"/>
            <a:ext cx="619125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Ghi dữ liệu mới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3676650"/>
            <a:ext cx="61912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Thêm kết quả đo và cảnh báo vào đầu bảng.</a:t>
            </a:r>
          </a:p>
          <a:p>
            <a:pPr algn="l">
              <a:lnSpc>
                <a:spcPts val="2625"/>
              </a:lnSpc>
            </a:pPr>
          </a:p>
          <a:p>
            <a:pPr algn="l">
              <a:lnSpc>
                <a:spcPts val="2625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786673" y="4914449"/>
            <a:ext cx="6211181" cy="1315352"/>
          </a:xfrm>
          <a:custGeom>
            <a:avLst/>
            <a:gdLst/>
            <a:ahLst/>
            <a:cxnLst/>
            <a:rect r="r" b="b" t="t" l="l"/>
            <a:pathLst>
              <a:path h="1315352" w="6211181">
                <a:moveTo>
                  <a:pt x="0" y="0"/>
                </a:moveTo>
                <a:lnTo>
                  <a:pt x="6211181" y="0"/>
                </a:lnTo>
                <a:lnTo>
                  <a:pt x="6211181" y="1315352"/>
                </a:lnTo>
                <a:lnTo>
                  <a:pt x="0" y="1315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0492" r="0" b="-540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34500" y="5172075"/>
            <a:ext cx="619125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Tự loại dòng cũ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4500" y="5676900"/>
            <a:ext cx="61912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K</a:t>
            </a:r>
            <a:r>
              <a:rPr lang="en-US" sz="1875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hi vượt 200 dòng, xóa dòng cũ nhất.</a:t>
            </a:r>
          </a:p>
          <a:p>
            <a:pPr algn="l">
              <a:lnSpc>
                <a:spcPts val="2625"/>
              </a:lnSpc>
            </a:pPr>
          </a:p>
          <a:p>
            <a:pPr algn="l">
              <a:lnSpc>
                <a:spcPts val="2625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86673" y="6869391"/>
            <a:ext cx="6211181" cy="1315352"/>
          </a:xfrm>
          <a:custGeom>
            <a:avLst/>
            <a:gdLst/>
            <a:ahLst/>
            <a:cxnLst/>
            <a:rect r="r" b="b" t="t" l="l"/>
            <a:pathLst>
              <a:path h="1315352" w="6211181">
                <a:moveTo>
                  <a:pt x="0" y="0"/>
                </a:moveTo>
                <a:lnTo>
                  <a:pt x="6211181" y="0"/>
                </a:lnTo>
                <a:lnTo>
                  <a:pt x="6211181" y="1315352"/>
                </a:lnTo>
                <a:lnTo>
                  <a:pt x="0" y="1315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0492" r="0" b="-540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34500" y="7172325"/>
            <a:ext cx="6191250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 b="true">
                <a:solidFill>
                  <a:srgbClr val="ED6A5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Đánh dấu bất thường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34500" y="7680198"/>
            <a:ext cx="619125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G</a:t>
            </a:r>
            <a:r>
              <a:rPr lang="en-US" sz="1875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hi thêm một dòng cảnh báo khi nhận Alert.</a:t>
            </a:r>
          </a:p>
          <a:p>
            <a:pPr algn="l">
              <a:lnSpc>
                <a:spcPts val="2625"/>
              </a:lnSpc>
            </a:pPr>
          </a:p>
          <a:p>
            <a:pPr algn="l">
              <a:lnSpc>
                <a:spcPts val="2625"/>
              </a:lnSpc>
            </a:pPr>
          </a:p>
          <a:p>
            <a:pPr algn="l">
              <a:lnSpc>
                <a:spcPts val="262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7361" y="1783261"/>
            <a:ext cx="5857704" cy="2293748"/>
            <a:chOff x="0" y="0"/>
            <a:chExt cx="7810272" cy="305833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49809"/>
              <a:ext cx="7810272" cy="2808522"/>
              <a:chOff x="0" y="0"/>
              <a:chExt cx="7941293" cy="285563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941294" cy="2855636"/>
              </a:xfrm>
              <a:custGeom>
                <a:avLst/>
                <a:gdLst/>
                <a:ahLst/>
                <a:cxnLst/>
                <a:rect r="r" b="b" t="t" l="l"/>
                <a:pathLst>
                  <a:path h="2855636" w="7941294">
                    <a:moveTo>
                      <a:pt x="0" y="0"/>
                    </a:moveTo>
                    <a:lnTo>
                      <a:pt x="7941294" y="0"/>
                    </a:lnTo>
                    <a:lnTo>
                      <a:pt x="7941294" y="2855636"/>
                    </a:lnTo>
                    <a:lnTo>
                      <a:pt x="0" y="2855636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7941293" cy="28937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21583" y="-9525"/>
              <a:ext cx="1446347" cy="509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9"/>
                </a:lnSpc>
              </a:pPr>
              <a:r>
                <a:rPr lang="en-US" sz="2507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21583" y="703907"/>
              <a:ext cx="6942464" cy="481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8"/>
                </a:lnSpc>
              </a:pPr>
              <a:r>
                <a:rPr lang="en-US" sz="2507" b="true">
                  <a:solidFill>
                    <a:srgbClr val="10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Kế thừa &amp; khởi tạo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21583" y="1344257"/>
              <a:ext cx="6619322" cy="1636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1"/>
                </a:lnSpc>
              </a:pPr>
              <a:r>
                <a:rPr lang="en-US" sz="1758">
                  <a:solidFill>
                    <a:srgbClr val="103A4A"/>
                  </a:solidFill>
                  <a:latin typeface="Noto Sans"/>
                  <a:ea typeface="Noto Sans"/>
                  <a:cs typeface="Noto Sans"/>
                  <a:sym typeface="Noto Sans"/>
                </a:rPr>
                <a:t>MainWindow extends BaseWindow. Phương thức initUI() xây dựng giao diện chính.</a:t>
              </a:r>
            </a:p>
            <a:p>
              <a:pPr algn="l">
                <a:lnSpc>
                  <a:spcPts val="2461"/>
                </a:lnSpc>
              </a:pPr>
            </a:p>
            <a:p>
              <a:pPr algn="l">
                <a:lnSpc>
                  <a:spcPts val="246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2722" y="4489965"/>
            <a:ext cx="6008052" cy="2235238"/>
            <a:chOff x="0" y="0"/>
            <a:chExt cx="8010736" cy="298031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263213"/>
              <a:ext cx="8010736" cy="2474213"/>
              <a:chOff x="0" y="0"/>
              <a:chExt cx="7730352" cy="238761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730352" cy="2387613"/>
              </a:xfrm>
              <a:custGeom>
                <a:avLst/>
                <a:gdLst/>
                <a:ahLst/>
                <a:cxnLst/>
                <a:rect r="r" b="b" t="t" l="l"/>
                <a:pathLst>
                  <a:path h="2387613" w="7730352">
                    <a:moveTo>
                      <a:pt x="0" y="0"/>
                    </a:moveTo>
                    <a:lnTo>
                      <a:pt x="7730352" y="0"/>
                    </a:lnTo>
                    <a:lnTo>
                      <a:pt x="7730352" y="2387613"/>
                    </a:lnTo>
                    <a:lnTo>
                      <a:pt x="0" y="2387613"/>
                    </a:lnTo>
                    <a:close/>
                  </a:path>
                </a:pathLst>
              </a:custGeom>
              <a:solidFill>
                <a:srgbClr val="C9EEE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7730352" cy="2425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14033" y="0"/>
              <a:ext cx="1483470" cy="52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0"/>
                </a:lnSpc>
              </a:pPr>
              <a:r>
                <a:rPr lang="en-US" sz="2642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14033" y="610811"/>
              <a:ext cx="7120654" cy="489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3"/>
                </a:lnSpc>
              </a:pPr>
              <a:r>
                <a:rPr lang="en-US" sz="2642" b="true">
                  <a:solidFill>
                    <a:srgbClr val="10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Thành phần giao diện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64833" y="1156007"/>
              <a:ext cx="7120654" cy="1824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0"/>
                </a:lnSpc>
              </a:pPr>
              <a:r>
                <a:rPr lang="en-US" sz="1943">
                  <a:solidFill>
                    <a:srgbClr val="103A4A"/>
                  </a:solidFill>
                  <a:latin typeface="Noto Sans"/>
                  <a:ea typeface="Noto Sans"/>
                  <a:cs typeface="Noto Sans"/>
                  <a:sym typeface="Noto Sans"/>
                </a:rPr>
                <a:t>Menu File/View/Help, thanh công cụ, status bar, ThresholdDialog và AboutDialog.</a:t>
              </a:r>
            </a:p>
            <a:p>
              <a:pPr algn="l">
                <a:lnSpc>
                  <a:spcPts val="2720"/>
                </a:lnSpc>
              </a:pPr>
            </a:p>
            <a:p>
              <a:pPr algn="l">
                <a:lnSpc>
                  <a:spcPts val="27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2722" y="7100059"/>
            <a:ext cx="5872343" cy="2158241"/>
            <a:chOff x="0" y="0"/>
            <a:chExt cx="7829790" cy="287765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184479"/>
              <a:ext cx="7829790" cy="2693175"/>
              <a:chOff x="0" y="0"/>
              <a:chExt cx="7829790" cy="269317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829790" cy="2693175"/>
              </a:xfrm>
              <a:custGeom>
                <a:avLst/>
                <a:gdLst/>
                <a:ahLst/>
                <a:cxnLst/>
                <a:rect r="r" b="b" t="t" l="l"/>
                <a:pathLst>
                  <a:path h="2693175" w="7829790">
                    <a:moveTo>
                      <a:pt x="0" y="0"/>
                    </a:moveTo>
                    <a:lnTo>
                      <a:pt x="7829790" y="0"/>
                    </a:lnTo>
                    <a:lnTo>
                      <a:pt x="7829790" y="2693175"/>
                    </a:lnTo>
                    <a:lnTo>
                      <a:pt x="0" y="269317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7829790" cy="27312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77240" y="0"/>
              <a:ext cx="1449961" cy="50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8C9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77240" y="790575"/>
              <a:ext cx="6959814" cy="480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4"/>
                </a:lnSpc>
              </a:pPr>
              <a:r>
                <a:rPr lang="en-US" sz="2550" b="true">
                  <a:solidFill>
                    <a:srgbClr val="103A4A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Vòng đời biểu đồ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7240" y="1492967"/>
              <a:ext cx="6959814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03A4A"/>
                  </a:solidFill>
                  <a:latin typeface="Noto Sans"/>
                  <a:ea typeface="Noto Sans"/>
                  <a:cs typeface="Noto Sans"/>
                  <a:sym typeface="Noto Sans"/>
                </a:rPr>
                <a:t>Cửa sổ biểu đồ dùng DISPOSE_ON_CLOSE để không đóng ứng dụng chính.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906950" y="1560289"/>
            <a:ext cx="7666535" cy="7956171"/>
          </a:xfrm>
          <a:custGeom>
            <a:avLst/>
            <a:gdLst/>
            <a:ahLst/>
            <a:cxnLst/>
            <a:rect r="r" b="b" t="t" l="l"/>
            <a:pathLst>
              <a:path h="7956171" w="7666535">
                <a:moveTo>
                  <a:pt x="0" y="0"/>
                </a:moveTo>
                <a:lnTo>
                  <a:pt x="7666535" y="0"/>
                </a:lnTo>
                <a:lnTo>
                  <a:pt x="7666535" y="7956171"/>
                </a:lnTo>
                <a:lnTo>
                  <a:pt x="0" y="7956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38200" y="723900"/>
            <a:ext cx="11811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750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Giao diện đúng khung BaseWindow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71645" y="9506935"/>
            <a:ext cx="3958667" cy="314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  <a:spcBef>
                <a:spcPct val="0"/>
              </a:spcBef>
            </a:pPr>
            <a:r>
              <a:rPr lang="en-US" b="true" sz="202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Cửa sổ About Dialog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0008" y="1748790"/>
            <a:ext cx="3907263" cy="1662522"/>
            <a:chOff x="0" y="0"/>
            <a:chExt cx="8357319" cy="355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57319" cy="3556000"/>
            </a:xfrm>
            <a:custGeom>
              <a:avLst/>
              <a:gdLst/>
              <a:ahLst/>
              <a:cxnLst/>
              <a:rect r="r" b="b" t="t" l="l"/>
              <a:pathLst>
                <a:path h="3556000" w="8357319">
                  <a:moveTo>
                    <a:pt x="55727" y="0"/>
                  </a:moveTo>
                  <a:lnTo>
                    <a:pt x="8301592" y="0"/>
                  </a:lnTo>
                  <a:cubicBezTo>
                    <a:pt x="8316371" y="0"/>
                    <a:pt x="8330547" y="5871"/>
                    <a:pt x="8340997" y="16322"/>
                  </a:cubicBezTo>
                  <a:cubicBezTo>
                    <a:pt x="8351448" y="26773"/>
                    <a:pt x="8357319" y="40948"/>
                    <a:pt x="8357319" y="55727"/>
                  </a:cubicBezTo>
                  <a:lnTo>
                    <a:pt x="8357319" y="3500273"/>
                  </a:lnTo>
                  <a:cubicBezTo>
                    <a:pt x="8357319" y="3531050"/>
                    <a:pt x="8332370" y="3556000"/>
                    <a:pt x="8301592" y="3556000"/>
                  </a:cubicBezTo>
                  <a:lnTo>
                    <a:pt x="55727" y="3556000"/>
                  </a:lnTo>
                  <a:cubicBezTo>
                    <a:pt x="24950" y="3556000"/>
                    <a:pt x="0" y="3531050"/>
                    <a:pt x="0" y="3500273"/>
                  </a:cubicBezTo>
                  <a:lnTo>
                    <a:pt x="0" y="55727"/>
                  </a:lnTo>
                  <a:cubicBezTo>
                    <a:pt x="0" y="24950"/>
                    <a:pt x="24950" y="0"/>
                    <a:pt x="5572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EEE3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357319" cy="355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ThresholdDialog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nhận min / max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H="true" flipV="true">
            <a:off x="3223639" y="3411312"/>
            <a:ext cx="13267" cy="683767"/>
          </a:xfrm>
          <a:prstGeom prst="line">
            <a:avLst/>
          </a:prstGeom>
          <a:ln cap="flat" w="47625">
            <a:solidFill>
              <a:srgbClr val="008C9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270008" y="4095079"/>
            <a:ext cx="3933797" cy="1683160"/>
            <a:chOff x="0" y="0"/>
            <a:chExt cx="8310906" cy="355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10906" cy="3556000"/>
            </a:xfrm>
            <a:custGeom>
              <a:avLst/>
              <a:gdLst/>
              <a:ahLst/>
              <a:cxnLst/>
              <a:rect r="r" b="b" t="t" l="l"/>
              <a:pathLst>
                <a:path h="3556000" w="8310906">
                  <a:moveTo>
                    <a:pt x="55351" y="0"/>
                  </a:moveTo>
                  <a:lnTo>
                    <a:pt x="8255554" y="0"/>
                  </a:lnTo>
                  <a:cubicBezTo>
                    <a:pt x="8286124" y="0"/>
                    <a:pt x="8310906" y="24782"/>
                    <a:pt x="8310906" y="55351"/>
                  </a:cubicBezTo>
                  <a:lnTo>
                    <a:pt x="8310906" y="3500648"/>
                  </a:lnTo>
                  <a:cubicBezTo>
                    <a:pt x="8310906" y="3531218"/>
                    <a:pt x="8286124" y="3556000"/>
                    <a:pt x="8255554" y="3556000"/>
                  </a:cubicBezTo>
                  <a:lnTo>
                    <a:pt x="55351" y="3556000"/>
                  </a:lnTo>
                  <a:cubicBezTo>
                    <a:pt x="24782" y="3556000"/>
                    <a:pt x="0" y="3531218"/>
                    <a:pt x="0" y="3500648"/>
                  </a:cubicBezTo>
                  <a:lnTo>
                    <a:pt x="0" y="55351"/>
                  </a:lnTo>
                  <a:cubicBezTo>
                    <a:pt x="0" y="24782"/>
                    <a:pt x="24782" y="0"/>
                    <a:pt x="5535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EEE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310906" cy="355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ThresholdDialog kiểm tra 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min &lt; max</a:t>
              </a:r>
            </a:p>
            <a:p>
              <a:pPr algn="ctr">
                <a:lnSpc>
                  <a:spcPts val="1980"/>
                </a:lnSpc>
              </a:pPr>
            </a:p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>
            <a:off x="3223639" y="5778238"/>
            <a:ext cx="13267" cy="419100"/>
          </a:xfrm>
          <a:prstGeom prst="line">
            <a:avLst/>
          </a:prstGeom>
          <a:ln cap="flat" w="47625">
            <a:solidFill>
              <a:srgbClr val="ED6A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311371" y="6197338"/>
            <a:ext cx="3824537" cy="1676019"/>
            <a:chOff x="0" y="0"/>
            <a:chExt cx="8273748" cy="3625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73748" cy="3625787"/>
            </a:xfrm>
            <a:custGeom>
              <a:avLst/>
              <a:gdLst/>
              <a:ahLst/>
              <a:cxnLst/>
              <a:rect r="r" b="b" t="t" l="l"/>
              <a:pathLst>
                <a:path h="3625787" w="8273748">
                  <a:moveTo>
                    <a:pt x="56933" y="0"/>
                  </a:moveTo>
                  <a:lnTo>
                    <a:pt x="8216815" y="0"/>
                  </a:lnTo>
                  <a:cubicBezTo>
                    <a:pt x="8248258" y="0"/>
                    <a:pt x="8273748" y="25490"/>
                    <a:pt x="8273748" y="56933"/>
                  </a:cubicBezTo>
                  <a:lnTo>
                    <a:pt x="8273748" y="3568854"/>
                  </a:lnTo>
                  <a:cubicBezTo>
                    <a:pt x="8273748" y="3600297"/>
                    <a:pt x="8248258" y="3625787"/>
                    <a:pt x="8216815" y="3625787"/>
                  </a:cubicBezTo>
                  <a:lnTo>
                    <a:pt x="56933" y="3625787"/>
                  </a:lnTo>
                  <a:cubicBezTo>
                    <a:pt x="25490" y="3625787"/>
                    <a:pt x="0" y="3600297"/>
                    <a:pt x="0" y="3568854"/>
                  </a:cubicBezTo>
                  <a:lnTo>
                    <a:pt x="0" y="56933"/>
                  </a:lnTo>
                  <a:cubicBezTo>
                    <a:pt x="0" y="25490"/>
                    <a:pt x="25490" y="0"/>
                    <a:pt x="56933" y="0"/>
                  </a:cubicBezTo>
                  <a:close/>
                </a:path>
              </a:pathLst>
            </a:custGeom>
            <a:solidFill>
              <a:srgbClr val="FFF1EF"/>
            </a:solidFill>
            <a:ln w="19050" cap="sq">
              <a:solidFill>
                <a:srgbClr val="FFF1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8273748" cy="362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Catch lỗi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hiển thị thông báo</a:t>
              </a:r>
            </a:p>
            <a:p>
              <a:pPr algn="ctr">
                <a:lnSpc>
                  <a:spcPts val="1980"/>
                </a:lnSpc>
              </a:pPr>
            </a:p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3223639" y="7873357"/>
            <a:ext cx="0" cy="576228"/>
          </a:xfrm>
          <a:prstGeom prst="line">
            <a:avLst/>
          </a:prstGeom>
          <a:ln cap="flat" w="47625">
            <a:solidFill>
              <a:srgbClr val="008C9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270008" y="8449585"/>
            <a:ext cx="3907263" cy="1683160"/>
            <a:chOff x="0" y="0"/>
            <a:chExt cx="8254847" cy="355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54847" cy="3556000"/>
            </a:xfrm>
            <a:custGeom>
              <a:avLst/>
              <a:gdLst/>
              <a:ahLst/>
              <a:cxnLst/>
              <a:rect r="r" b="b" t="t" l="l"/>
              <a:pathLst>
                <a:path h="3556000" w="8254847">
                  <a:moveTo>
                    <a:pt x="55727" y="0"/>
                  </a:moveTo>
                  <a:lnTo>
                    <a:pt x="8199120" y="0"/>
                  </a:lnTo>
                  <a:cubicBezTo>
                    <a:pt x="8229898" y="0"/>
                    <a:pt x="8254847" y="24950"/>
                    <a:pt x="8254847" y="55727"/>
                  </a:cubicBezTo>
                  <a:lnTo>
                    <a:pt x="8254847" y="3500273"/>
                  </a:lnTo>
                  <a:cubicBezTo>
                    <a:pt x="8254847" y="3531050"/>
                    <a:pt x="8229898" y="3556000"/>
                    <a:pt x="8199120" y="3556000"/>
                  </a:cubicBezTo>
                  <a:lnTo>
                    <a:pt x="55727" y="3556000"/>
                  </a:lnTo>
                  <a:cubicBezTo>
                    <a:pt x="24950" y="3556000"/>
                    <a:pt x="0" y="3531050"/>
                    <a:pt x="0" y="3500273"/>
                  </a:cubicBezTo>
                  <a:lnTo>
                    <a:pt x="0" y="55727"/>
                  </a:lnTo>
                  <a:cubicBezTo>
                    <a:pt x="0" y="24950"/>
                    <a:pt x="24950" y="0"/>
                    <a:pt x="55727" y="0"/>
                  </a:cubicBezTo>
                  <a:close/>
                </a:path>
              </a:pathLst>
            </a:custGeom>
            <a:solidFill>
              <a:srgbClr val="C9EEE3"/>
            </a:solidFill>
            <a:ln w="19050" cap="sq">
              <a:solidFill>
                <a:srgbClr val="C9EEE3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254847" cy="355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03A4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PropertiesHelper lưu ngưỡng</a:t>
              </a:r>
            </a:p>
            <a:p>
              <a:pPr algn="ctr">
                <a:lnSpc>
                  <a:spcPts val="1980"/>
                </a:lnSpc>
              </a:pPr>
            </a:p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633140" y="1486887"/>
            <a:ext cx="7623684" cy="6734098"/>
          </a:xfrm>
          <a:custGeom>
            <a:avLst/>
            <a:gdLst/>
            <a:ahLst/>
            <a:cxnLst/>
            <a:rect r="r" b="b" t="t" l="l"/>
            <a:pathLst>
              <a:path h="6734098" w="7623684">
                <a:moveTo>
                  <a:pt x="0" y="0"/>
                </a:moveTo>
                <a:lnTo>
                  <a:pt x="7623684" y="0"/>
                </a:lnTo>
                <a:lnTo>
                  <a:pt x="7623684" y="6734098"/>
                </a:lnTo>
                <a:lnTo>
                  <a:pt x="0" y="6734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37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38200" y="723900"/>
            <a:ext cx="11811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750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Chỉnh ngưỡng và xử lý lỗi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27218" y="8468635"/>
            <a:ext cx="13354024" cy="114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3"/>
              </a:lnSpc>
            </a:pPr>
            <a:r>
              <a:rPr lang="en-US" sz="2067" b="true">
                <a:solidFill>
                  <a:srgbClr val="ED6A5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InvalidThresholdException khi min ≥ max</a:t>
            </a:r>
          </a:p>
          <a:p>
            <a:pPr algn="ctr">
              <a:lnSpc>
                <a:spcPts val="2233"/>
              </a:lnSpc>
            </a:pPr>
            <a:r>
              <a:rPr lang="en-US" sz="2067" b="true">
                <a:solidFill>
                  <a:srgbClr val="ED6A5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Cửa sổ hiện hỗ trợ chỉnh ngưỡng nhiệt độ,pH,oxy và độ mặn.</a:t>
            </a:r>
          </a:p>
          <a:p>
            <a:pPr algn="ctr">
              <a:lnSpc>
                <a:spcPts val="2233"/>
              </a:lnSpc>
            </a:pPr>
          </a:p>
          <a:p>
            <a:pPr algn="ctr">
              <a:lnSpc>
                <a:spcPts val="2233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8366" y="2956988"/>
            <a:ext cx="8436903" cy="6301312"/>
          </a:xfrm>
          <a:custGeom>
            <a:avLst/>
            <a:gdLst/>
            <a:ahLst/>
            <a:cxnLst/>
            <a:rect r="r" b="b" t="t" l="l"/>
            <a:pathLst>
              <a:path h="6301312" w="8436903">
                <a:moveTo>
                  <a:pt x="0" y="0"/>
                </a:moveTo>
                <a:lnTo>
                  <a:pt x="8436903" y="0"/>
                </a:lnTo>
                <a:lnTo>
                  <a:pt x="8436903" y="6301312"/>
                </a:lnTo>
                <a:lnTo>
                  <a:pt x="0" y="6301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21475" y="2956988"/>
            <a:ext cx="8387770" cy="6301312"/>
          </a:xfrm>
          <a:custGeom>
            <a:avLst/>
            <a:gdLst/>
            <a:ahLst/>
            <a:cxnLst/>
            <a:rect r="r" b="b" t="t" l="l"/>
            <a:pathLst>
              <a:path h="6301312" w="8387770">
                <a:moveTo>
                  <a:pt x="0" y="0"/>
                </a:moveTo>
                <a:lnTo>
                  <a:pt x="8387770" y="0"/>
                </a:lnTo>
                <a:lnTo>
                  <a:pt x="8387770" y="6301312"/>
                </a:lnTo>
                <a:lnTo>
                  <a:pt x="0" y="6301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8200" y="742950"/>
            <a:ext cx="118110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7"/>
              </a:lnSpc>
            </a:pPr>
            <a:r>
              <a:rPr lang="en-US" sz="4349" b="true">
                <a:solidFill>
                  <a:srgbClr val="1F3A5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Kết hợp hai góc nhìn biểu đồ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1552154"/>
            <a:ext cx="16573500" cy="126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9"/>
              </a:lnSpc>
              <a:spcBef>
                <a:spcPct val="0"/>
              </a:spcBef>
            </a:pPr>
            <a:r>
              <a:rPr lang="en-US" sz="2449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     </a:t>
            </a:r>
            <a:r>
              <a:rPr lang="en-US" sz="2449" strike="noStrike" u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Theo dõi 60 giây: nhiệt độ, pH, DO, độ mặn biến động liên tục.</a:t>
            </a:r>
          </a:p>
          <a:p>
            <a:pPr algn="l" marL="0" indent="0" lvl="0">
              <a:lnSpc>
                <a:spcPts val="3429"/>
              </a:lnSpc>
              <a:spcBef>
                <a:spcPct val="0"/>
              </a:spcBef>
            </a:pPr>
            <a:r>
              <a:rPr lang="en-US" sz="2449" strike="noStrike" u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     Đếm cảnh báo: nhiệt độ 17 • pH 15 • độ mặn 7 • Oxy hòa tan 19.</a:t>
            </a:r>
          </a:p>
          <a:p>
            <a:pPr algn="l" marL="0" indent="0" lvl="0">
              <a:lnSpc>
                <a:spcPts val="3429"/>
              </a:lnSpc>
              <a:spcBef>
                <a:spcPct val="0"/>
              </a:spcBef>
            </a:pPr>
            <a:r>
              <a:rPr lang="en-US" sz="2449" strike="noStrike" u="none">
                <a:solidFill>
                  <a:srgbClr val="6B728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71030" y="733790"/>
            <a:ext cx="7902470" cy="8681879"/>
          </a:xfrm>
          <a:custGeom>
            <a:avLst/>
            <a:gdLst/>
            <a:ahLst/>
            <a:cxnLst/>
            <a:rect r="r" b="b" t="t" l="l"/>
            <a:pathLst>
              <a:path h="8681879" w="7902470">
                <a:moveTo>
                  <a:pt x="0" y="0"/>
                </a:moveTo>
                <a:lnTo>
                  <a:pt x="7902470" y="0"/>
                </a:lnTo>
                <a:lnTo>
                  <a:pt x="7902470" y="8681879"/>
                </a:lnTo>
                <a:lnTo>
                  <a:pt x="0" y="8681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7" t="0" r="-110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1265" y="785491"/>
            <a:ext cx="11811000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4049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Tính năng bonus: Máy sục khí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1265" y="1554615"/>
            <a:ext cx="7173680" cy="136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M</a:t>
            </a:r>
            <a:r>
              <a:rPr lang="en-US" sz="2574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ô phỏng bật/tắt máy sục khí theo chỉ số DO.</a:t>
            </a:r>
          </a:p>
          <a:p>
            <a:pPr algn="l">
              <a:lnSpc>
                <a:spcPts val="3604"/>
              </a:lnSpc>
            </a:pP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11265" y="2965593"/>
            <a:ext cx="6477000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</a:pPr>
            <a:r>
              <a:rPr lang="en-US" sz="3949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Controllable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1265" y="3778265"/>
            <a:ext cx="6477000" cy="45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674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Interface chuẩn hóa thiết bị chấp hành.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1265" y="5122355"/>
            <a:ext cx="6477000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</a:pPr>
            <a:r>
              <a:rPr lang="en-US" sz="3949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Aerator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265" y="5916070"/>
            <a:ext cx="6477000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Bật khi DO dưới ngưỡng; tắt khi DO từ ngưỡng trở lên.</a:t>
            </a:r>
          </a:p>
          <a:p>
            <a:pPr algn="l">
              <a:lnSpc>
                <a:spcPts val="3604"/>
              </a:lnSpc>
            </a:pP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11265" y="7487442"/>
            <a:ext cx="6477000" cy="105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sz="3849" b="true">
                <a:solidFill>
                  <a:srgbClr val="103A4A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Hướng phát triển</a:t>
            </a:r>
          </a:p>
          <a:p>
            <a:pPr algn="l">
              <a:lnSpc>
                <a:spcPts val="415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11265" y="8289700"/>
            <a:ext cx="6477000" cy="138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674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Xuấ</a:t>
            </a:r>
            <a:r>
              <a:rPr lang="en-US" sz="2674">
                <a:solidFill>
                  <a:srgbClr val="103A4A"/>
                </a:solidFill>
                <a:latin typeface="Noto Sans"/>
                <a:ea typeface="Noto Sans"/>
                <a:cs typeface="Noto Sans"/>
                <a:sym typeface="Noto Sans"/>
              </a:rPr>
              <a:t>t dữ liệu ra CSV để xem lại và phân tích.</a:t>
            </a:r>
          </a:p>
          <a:p>
            <a:pPr algn="l">
              <a:lnSpc>
                <a:spcPts val="374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01195" y="1892250"/>
            <a:ext cx="10085611" cy="59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4585" spc="-91" b="true">
                <a:solidFill>
                  <a:srgbClr val="202C4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Model: Đóng gói, trừu tượng, kế thừa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4066699"/>
            <a:ext cx="4364182" cy="4941258"/>
          </a:xfrm>
          <a:custGeom>
            <a:avLst/>
            <a:gdLst/>
            <a:ahLst/>
            <a:cxnLst/>
            <a:rect r="r" b="b" t="t" l="l"/>
            <a:pathLst>
              <a:path h="4941258" w="4364182">
                <a:moveTo>
                  <a:pt x="0" y="0"/>
                </a:moveTo>
                <a:lnTo>
                  <a:pt x="4364182" y="0"/>
                </a:lnTo>
                <a:lnTo>
                  <a:pt x="4364182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4066699"/>
            <a:ext cx="4145426" cy="1082267"/>
          </a:xfrm>
          <a:custGeom>
            <a:avLst/>
            <a:gdLst/>
            <a:ahLst/>
            <a:cxnLst/>
            <a:rect r="r" b="b" t="t" l="l"/>
            <a:pathLst>
              <a:path h="1082267" w="4145426">
                <a:moveTo>
                  <a:pt x="0" y="0"/>
                </a:moveTo>
                <a:lnTo>
                  <a:pt x="4145426" y="0"/>
                </a:lnTo>
                <a:lnTo>
                  <a:pt x="414542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4021" y="4499344"/>
            <a:ext cx="2295508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Đóng gói dữ liệu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8246" y="5389971"/>
            <a:ext cx="2973864" cy="255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Thuộc tính private;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Reading bất biến với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trường chỉ đọc,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constructor và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getter.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572000" y="4066699"/>
            <a:ext cx="4572000" cy="4941258"/>
          </a:xfrm>
          <a:custGeom>
            <a:avLst/>
            <a:gdLst/>
            <a:ahLst/>
            <a:cxnLst/>
            <a:rect r="r" b="b" t="t" l="l"/>
            <a:pathLst>
              <a:path h="4941258" w="4572000">
                <a:moveTo>
                  <a:pt x="0" y="0"/>
                </a:moveTo>
                <a:lnTo>
                  <a:pt x="4572000" y="0"/>
                </a:lnTo>
                <a:lnTo>
                  <a:pt x="4572000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79818" y="4066699"/>
            <a:ext cx="4364182" cy="1082267"/>
          </a:xfrm>
          <a:custGeom>
            <a:avLst/>
            <a:gdLst/>
            <a:ahLst/>
            <a:cxnLst/>
            <a:rect r="r" b="b" t="t" l="l"/>
            <a:pathLst>
              <a:path h="1082267" w="4364182">
                <a:moveTo>
                  <a:pt x="0" y="0"/>
                </a:moveTo>
                <a:lnTo>
                  <a:pt x="4364182" y="0"/>
                </a:lnTo>
                <a:lnTo>
                  <a:pt x="436418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54360" y="4499344"/>
            <a:ext cx="3556200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Trừu tượng hóa cảm biến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16775" y="5389971"/>
            <a:ext cx="2672492" cy="255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Sensor trừu tượng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khai báo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read():double và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các thành phần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chung.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925244" y="4066699"/>
            <a:ext cx="4364182" cy="4941258"/>
          </a:xfrm>
          <a:custGeom>
            <a:avLst/>
            <a:gdLst/>
            <a:ahLst/>
            <a:cxnLst/>
            <a:rect r="r" b="b" t="t" l="l"/>
            <a:pathLst>
              <a:path h="4941258" w="4364182">
                <a:moveTo>
                  <a:pt x="0" y="0"/>
                </a:moveTo>
                <a:lnTo>
                  <a:pt x="4364182" y="0"/>
                </a:lnTo>
                <a:lnTo>
                  <a:pt x="4364182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25244" y="4066699"/>
            <a:ext cx="4364182" cy="1082267"/>
          </a:xfrm>
          <a:custGeom>
            <a:avLst/>
            <a:gdLst/>
            <a:ahLst/>
            <a:cxnLst/>
            <a:rect r="r" b="b" t="t" l="l"/>
            <a:pathLst>
              <a:path h="1082267" w="4364182">
                <a:moveTo>
                  <a:pt x="0" y="0"/>
                </a:moveTo>
                <a:lnTo>
                  <a:pt x="4364182" y="0"/>
                </a:lnTo>
                <a:lnTo>
                  <a:pt x="436418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722968" y="4499344"/>
            <a:ext cx="2825089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47" b="tru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Kế thừa, tái sử dụng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66551" y="5389971"/>
            <a:ext cx="3640973" cy="255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TemperatureSensor,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PHSensor,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SalinitySensor,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DissolvedOxygenSensor</a:t>
            </a:r>
          </a:p>
          <a:p>
            <a:pPr algn="l">
              <a:lnSpc>
                <a:spcPts val="4154"/>
              </a:lnSpc>
            </a:pPr>
            <a:r>
              <a:rPr lang="en-US" sz="2443" spc="-48" b="tru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mở rộng Sensor.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278488" y="4066699"/>
            <a:ext cx="4364182" cy="4941258"/>
          </a:xfrm>
          <a:custGeom>
            <a:avLst/>
            <a:gdLst/>
            <a:ahLst/>
            <a:cxnLst/>
            <a:rect r="r" b="b" t="t" l="l"/>
            <a:pathLst>
              <a:path h="4941258" w="4364182">
                <a:moveTo>
                  <a:pt x="0" y="0"/>
                </a:moveTo>
                <a:lnTo>
                  <a:pt x="4364182" y="0"/>
                </a:lnTo>
                <a:lnTo>
                  <a:pt x="4364182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78488" y="4066699"/>
            <a:ext cx="4364182" cy="1082267"/>
          </a:xfrm>
          <a:custGeom>
            <a:avLst/>
            <a:gdLst/>
            <a:ahLst/>
            <a:cxnLst/>
            <a:rect r="r" b="b" t="t" l="l"/>
            <a:pathLst>
              <a:path h="1082267" w="4364182">
                <a:moveTo>
                  <a:pt x="0" y="0"/>
                </a:moveTo>
                <a:lnTo>
                  <a:pt x="4364182" y="0"/>
                </a:lnTo>
                <a:lnTo>
                  <a:pt x="436418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255104" y="4499344"/>
            <a:ext cx="2346608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1"/>
              </a:lnSpc>
              <a:spcBef>
                <a:spcPct val="0"/>
              </a:spcBef>
            </a:pPr>
            <a:r>
              <a:rPr lang="en-US" b="true" sz="2351" spc="-47" strike="noStrike" u="none">
                <a:solidFill>
                  <a:srgbClr val="F4F4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Kết hợp thực thể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51976" y="5389971"/>
            <a:ext cx="3723534" cy="203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4"/>
              </a:lnSpc>
              <a:spcBef>
                <a:spcPct val="0"/>
              </a:spcBef>
            </a:pPr>
            <a:r>
              <a:rPr lang="en-US" b="true" sz="2443" spc="-48" strike="noStrike" u="non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Farm chứa List&lt;Pond&gt;;</a:t>
            </a:r>
          </a:p>
          <a:p>
            <a:pPr algn="l" marL="0" indent="0" lvl="0">
              <a:lnSpc>
                <a:spcPts val="4154"/>
              </a:lnSpc>
              <a:spcBef>
                <a:spcPct val="0"/>
              </a:spcBef>
            </a:pPr>
            <a:r>
              <a:rPr lang="en-US" b="true" sz="2443" spc="-48" strike="noStrike" u="non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Pond chứa List&lt;Sensor&gt;,</a:t>
            </a:r>
          </a:p>
          <a:p>
            <a:pPr algn="l" marL="0" indent="0" lvl="0">
              <a:lnSpc>
                <a:spcPts val="4154"/>
              </a:lnSpc>
              <a:spcBef>
                <a:spcPct val="0"/>
              </a:spcBef>
            </a:pPr>
            <a:r>
              <a:rPr lang="en-US" b="true" sz="2443" spc="-48" strike="noStrike" u="non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theo quan hệ</a:t>
            </a:r>
          </a:p>
          <a:p>
            <a:pPr algn="l" marL="0" indent="0" lvl="0">
              <a:lnSpc>
                <a:spcPts val="4154"/>
              </a:lnSpc>
              <a:spcBef>
                <a:spcPct val="0"/>
              </a:spcBef>
            </a:pPr>
            <a:r>
              <a:rPr lang="en-US" b="true" sz="2443" spc="-48" strike="noStrike" u="none">
                <a:solidFill>
                  <a:srgbClr val="26325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composition.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070470"/>
            <a:ext cx="6333609" cy="1331181"/>
          </a:xfrm>
          <a:custGeom>
            <a:avLst/>
            <a:gdLst/>
            <a:ahLst/>
            <a:cxnLst/>
            <a:rect r="r" b="b" t="t" l="l"/>
            <a:pathLst>
              <a:path h="1331181" w="6333609">
                <a:moveTo>
                  <a:pt x="0" y="0"/>
                </a:moveTo>
                <a:lnTo>
                  <a:pt x="6333609" y="0"/>
                </a:lnTo>
                <a:lnTo>
                  <a:pt x="6333609" y="1331181"/>
                </a:lnTo>
                <a:lnTo>
                  <a:pt x="0" y="1331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76" r="0" b="-917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6210" y="-867852"/>
            <a:ext cx="1442211" cy="1735703"/>
          </a:xfrm>
          <a:custGeom>
            <a:avLst/>
            <a:gdLst/>
            <a:ahLst/>
            <a:cxnLst/>
            <a:rect r="r" b="b" t="t" l="l"/>
            <a:pathLst>
              <a:path h="1735703" w="1442211">
                <a:moveTo>
                  <a:pt x="0" y="0"/>
                </a:moveTo>
                <a:lnTo>
                  <a:pt x="1442211" y="0"/>
                </a:lnTo>
                <a:lnTo>
                  <a:pt x="1442211" y="1735704"/>
                </a:lnTo>
                <a:lnTo>
                  <a:pt x="0" y="173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335102" y="4835436"/>
            <a:ext cx="788424" cy="78842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0"/>
              <a:ext cx="6604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99"/>
                </a:lnSpc>
              </a:pPr>
            </a:p>
          </p:txBody>
        </p:sp>
      </p:grpSp>
      <p:sp>
        <p:nvSpPr>
          <p:cNvPr name="Freeform 8" id="8" descr="Sơ đồ UML Model và model.device nguyên bản người dùng cung cấp."/>
          <p:cNvSpPr/>
          <p:nvPr/>
        </p:nvSpPr>
        <p:spPr>
          <a:xfrm flipH="false" flipV="false" rot="0">
            <a:off x="7220473" y="118655"/>
            <a:ext cx="10714254" cy="10049690"/>
          </a:xfrm>
          <a:custGeom>
            <a:avLst/>
            <a:gdLst/>
            <a:ahLst/>
            <a:cxnLst/>
            <a:rect r="r" b="b" t="t" l="l"/>
            <a:pathLst>
              <a:path h="10049690" w="10714254">
                <a:moveTo>
                  <a:pt x="0" y="0"/>
                </a:moveTo>
                <a:lnTo>
                  <a:pt x="10714254" y="0"/>
                </a:lnTo>
                <a:lnTo>
                  <a:pt x="10714254" y="10049690"/>
                </a:lnTo>
                <a:lnTo>
                  <a:pt x="0" y="10049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2" t="0" r="-6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7634" y="2534244"/>
            <a:ext cx="5398342" cy="44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2"/>
              </a:lnSpc>
            </a:pPr>
            <a:r>
              <a:rPr lang="en-US" sz="3183" spc="-63" b="true">
                <a:solidFill>
                  <a:srgbClr val="1B2C4A"/>
                </a:solidFill>
                <a:latin typeface="Cabin Bold"/>
                <a:ea typeface="Cabin Bold"/>
                <a:cs typeface="Cabin Bold"/>
                <a:sym typeface="Cabin Bold"/>
              </a:rPr>
              <a:t>Sơ đồ UML: Model và thiết bị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25859" y="1446417"/>
            <a:ext cx="10163503" cy="61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1"/>
              </a:lnSpc>
            </a:pPr>
            <a:r>
              <a:rPr lang="en-US" sz="4025" spc="-80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Service: Điều phối sự kiện, giảm phụ thuộc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3214004"/>
            <a:ext cx="4364182" cy="4503979"/>
          </a:xfrm>
          <a:custGeom>
            <a:avLst/>
            <a:gdLst/>
            <a:ahLst/>
            <a:cxnLst/>
            <a:rect r="r" b="b" t="t" l="l"/>
            <a:pathLst>
              <a:path h="4503979" w="4364182">
                <a:moveTo>
                  <a:pt x="0" y="0"/>
                </a:moveTo>
                <a:lnTo>
                  <a:pt x="4364182" y="0"/>
                </a:lnTo>
                <a:lnTo>
                  <a:pt x="4364182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3926670" cy="863627"/>
          </a:xfrm>
          <a:custGeom>
            <a:avLst/>
            <a:gdLst/>
            <a:ahLst/>
            <a:cxnLst/>
            <a:rect r="r" b="b" t="t" l="l"/>
            <a:pathLst>
              <a:path h="863627" w="3926670">
                <a:moveTo>
                  <a:pt x="0" y="0"/>
                </a:moveTo>
                <a:lnTo>
                  <a:pt x="3926670" y="0"/>
                </a:lnTo>
                <a:lnTo>
                  <a:pt x="392667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8684" y="3542030"/>
            <a:ext cx="2719145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Điều phối mô phỏng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2817" y="4274776"/>
            <a:ext cx="2911281" cy="255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SimulationEngine</a:t>
            </a:r>
          </a:p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giữ Timer và Farm;</a:t>
            </a:r>
          </a:p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start(), stop(),</a:t>
            </a:r>
          </a:p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processTick()</a:t>
            </a:r>
          </a:p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quản lý cập nhật.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572000" y="3214004"/>
            <a:ext cx="4572000" cy="4503979"/>
          </a:xfrm>
          <a:custGeom>
            <a:avLst/>
            <a:gdLst/>
            <a:ahLst/>
            <a:cxnLst/>
            <a:rect r="r" b="b" t="t" l="l"/>
            <a:pathLst>
              <a:path h="4503979" w="4572000">
                <a:moveTo>
                  <a:pt x="0" y="0"/>
                </a:moveTo>
                <a:lnTo>
                  <a:pt x="4572000" y="0"/>
                </a:lnTo>
                <a:lnTo>
                  <a:pt x="4572000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79818" y="3214004"/>
            <a:ext cx="4156364" cy="863627"/>
          </a:xfrm>
          <a:custGeom>
            <a:avLst/>
            <a:gdLst/>
            <a:ahLst/>
            <a:cxnLst/>
            <a:rect r="r" b="b" t="t" l="l"/>
            <a:pathLst>
              <a:path h="863627" w="4156364">
                <a:moveTo>
                  <a:pt x="0" y="0"/>
                </a:moveTo>
                <a:lnTo>
                  <a:pt x="4156364" y="0"/>
                </a:lnTo>
                <a:lnTo>
                  <a:pt x="415636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91149" y="3542030"/>
            <a:ext cx="3271837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Phân phối qua Observer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1023" y="4264025"/>
            <a:ext cx="3284399" cy="256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575" spc="-51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Engine đọc cảm biến,</a:t>
            </a:r>
          </a:p>
          <a:p>
            <a:pPr algn="l">
              <a:lnSpc>
                <a:spcPts val="4119"/>
              </a:lnSpc>
            </a:pPr>
            <a:r>
              <a:rPr lang="en-US" sz="2575" spc="-51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tạo Reading/Alert;</a:t>
            </a:r>
          </a:p>
          <a:p>
            <a:pPr algn="l">
              <a:lnSpc>
                <a:spcPts val="4119"/>
              </a:lnSpc>
            </a:pPr>
            <a:r>
              <a:rPr lang="en-US" sz="2575" spc="-51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SensorHub phát</a:t>
            </a:r>
          </a:p>
          <a:p>
            <a:pPr algn="l">
              <a:lnSpc>
                <a:spcPts val="4119"/>
              </a:lnSpc>
            </a:pPr>
            <a:r>
              <a:rPr lang="en-US" sz="2575" spc="-51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sự kiện tới</a:t>
            </a:r>
          </a:p>
          <a:p>
            <a:pPr algn="l">
              <a:lnSpc>
                <a:spcPts val="4119"/>
              </a:lnSpc>
            </a:pPr>
            <a:r>
              <a:rPr lang="en-US" sz="2575" spc="-51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SensorListener.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925244" y="3214004"/>
            <a:ext cx="4582938" cy="4503979"/>
          </a:xfrm>
          <a:custGeom>
            <a:avLst/>
            <a:gdLst/>
            <a:ahLst/>
            <a:cxnLst/>
            <a:rect r="r" b="b" t="t" l="l"/>
            <a:pathLst>
              <a:path h="4503979" w="4582938">
                <a:moveTo>
                  <a:pt x="0" y="0"/>
                </a:moveTo>
                <a:lnTo>
                  <a:pt x="4582938" y="0"/>
                </a:lnTo>
                <a:lnTo>
                  <a:pt x="4582938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3214004"/>
            <a:ext cx="4145426" cy="863627"/>
          </a:xfrm>
          <a:custGeom>
            <a:avLst/>
            <a:gdLst/>
            <a:ahLst/>
            <a:cxnLst/>
            <a:rect r="r" b="b" t="t" l="l"/>
            <a:pathLst>
              <a:path h="863627" w="4145426">
                <a:moveTo>
                  <a:pt x="0" y="0"/>
                </a:moveTo>
                <a:lnTo>
                  <a:pt x="4145426" y="0"/>
                </a:lnTo>
                <a:lnTo>
                  <a:pt x="414542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11630" y="3542030"/>
            <a:ext cx="3243298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Quản lý bằng Singleton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01734" y="4274776"/>
            <a:ext cx="3517240" cy="255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SensorHub có</a:t>
            </a:r>
          </a:p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constructor private,</a:t>
            </a:r>
          </a:p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instance static,</a:t>
            </a:r>
          </a:p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getInstance()</a:t>
            </a:r>
          </a:p>
          <a:p>
            <a:pPr algn="l">
              <a:lnSpc>
                <a:spcPts val="4196"/>
              </a:lnSpc>
            </a:pPr>
            <a:r>
              <a:rPr lang="en-US" sz="2623" spc="-52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cho truy cập tập trung.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278488" y="3214004"/>
            <a:ext cx="4582938" cy="4503979"/>
          </a:xfrm>
          <a:custGeom>
            <a:avLst/>
            <a:gdLst/>
            <a:ahLst/>
            <a:cxnLst/>
            <a:rect r="r" b="b" t="t" l="l"/>
            <a:pathLst>
              <a:path h="4503979" w="4582938">
                <a:moveTo>
                  <a:pt x="0" y="0"/>
                </a:moveTo>
                <a:lnTo>
                  <a:pt x="4582938" y="0"/>
                </a:lnTo>
                <a:lnTo>
                  <a:pt x="4582938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78488" y="3214004"/>
            <a:ext cx="4364182" cy="863627"/>
          </a:xfrm>
          <a:custGeom>
            <a:avLst/>
            <a:gdLst/>
            <a:ahLst/>
            <a:cxnLst/>
            <a:rect r="r" b="b" t="t" l="l"/>
            <a:pathLst>
              <a:path h="863627" w="4364182">
                <a:moveTo>
                  <a:pt x="0" y="0"/>
                </a:moveTo>
                <a:lnTo>
                  <a:pt x="4364182" y="0"/>
                </a:lnTo>
                <a:lnTo>
                  <a:pt x="436418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761550" y="3542030"/>
            <a:ext cx="3481768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Giảm phụ thuộc giao diện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15361" y="4274776"/>
            <a:ext cx="3458476" cy="3068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6"/>
              </a:lnSpc>
              <a:spcBef>
                <a:spcPct val="0"/>
              </a:spcBef>
            </a:pPr>
            <a:r>
              <a:rPr lang="en-US" b="true" sz="2623" spc="-52" strike="noStrike" u="non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Hub làm việc qua</a:t>
            </a:r>
          </a:p>
          <a:p>
            <a:pPr algn="l" marL="0" indent="0" lvl="0">
              <a:lnSpc>
                <a:spcPts val="4196"/>
              </a:lnSpc>
              <a:spcBef>
                <a:spcPct val="0"/>
              </a:spcBef>
            </a:pPr>
            <a:r>
              <a:rPr lang="en-US" b="true" sz="2623" spc="-52" strike="noStrike" u="non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SensorListener;</a:t>
            </a:r>
          </a:p>
          <a:p>
            <a:pPr algn="l" marL="0" indent="0" lvl="0">
              <a:lnSpc>
                <a:spcPts val="4196"/>
              </a:lnSpc>
              <a:spcBef>
                <a:spcPct val="0"/>
              </a:spcBef>
            </a:pPr>
            <a:r>
              <a:rPr lang="en-US" b="true" sz="2623" spc="-52" strike="noStrike" u="non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module UI triển khai</a:t>
            </a:r>
          </a:p>
          <a:p>
            <a:pPr algn="l" marL="0" indent="0" lvl="0">
              <a:lnSpc>
                <a:spcPts val="4196"/>
              </a:lnSpc>
              <a:spcBef>
                <a:spcPct val="0"/>
              </a:spcBef>
            </a:pPr>
            <a:r>
              <a:rPr lang="en-US" b="true" sz="2623" spc="-52" strike="noStrike" u="non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interface để nhận</a:t>
            </a:r>
          </a:p>
          <a:p>
            <a:pPr algn="l" marL="0" indent="0" lvl="0">
              <a:lnSpc>
                <a:spcPts val="4196"/>
              </a:lnSpc>
              <a:spcBef>
                <a:spcPct val="0"/>
              </a:spcBef>
            </a:pPr>
            <a:r>
              <a:rPr lang="en-US" b="true" sz="2623" spc="-52" strike="noStrike" u="non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onReading()/onAlert().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39110" y="7707051"/>
            <a:ext cx="3051646" cy="1082267"/>
          </a:xfrm>
          <a:custGeom>
            <a:avLst/>
            <a:gdLst/>
            <a:ahLst/>
            <a:cxnLst/>
            <a:rect r="r" b="b" t="t" l="l"/>
            <a:pathLst>
              <a:path h="1082267" w="3051646">
                <a:moveTo>
                  <a:pt x="0" y="0"/>
                </a:moveTo>
                <a:lnTo>
                  <a:pt x="3051646" y="0"/>
                </a:lnTo>
                <a:lnTo>
                  <a:pt x="305164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873598" y="7707051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494143" y="8060282"/>
            <a:ext cx="1559879" cy="34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SensorHub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789330" y="7707051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131759" y="8060282"/>
            <a:ext cx="2129565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SensorListener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716000" y="7707051"/>
            <a:ext cx="2832890" cy="1082267"/>
          </a:xfrm>
          <a:custGeom>
            <a:avLst/>
            <a:gdLst/>
            <a:ahLst/>
            <a:cxnLst/>
            <a:rect r="r" b="b" t="t" l="l"/>
            <a:pathLst>
              <a:path h="1082267" w="2832890">
                <a:moveTo>
                  <a:pt x="0" y="0"/>
                </a:moveTo>
                <a:lnTo>
                  <a:pt x="2832890" y="0"/>
                </a:lnTo>
                <a:lnTo>
                  <a:pt x="283289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118242" y="8060282"/>
            <a:ext cx="2488265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SimulationEngine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9362" y="8060282"/>
            <a:ext cx="1599781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 b="true">
                <a:solidFill>
                  <a:srgbClr val="1E2D4F"/>
                </a:solidFill>
                <a:latin typeface="Inter Bold"/>
                <a:ea typeface="Inter Bold"/>
                <a:cs typeface="Inter Bold"/>
                <a:sym typeface="Inter Bold"/>
              </a:rPr>
              <a:t>UI / Aerator</a:t>
            </a:r>
          </a:p>
        </p:txBody>
      </p:sp>
      <p:sp>
        <p:nvSpPr>
          <p:cNvPr name="Freeform 28" id="28"/>
          <p:cNvSpPr/>
          <p:nvPr/>
        </p:nvSpPr>
        <p:spPr>
          <a:xfrm>
            <a:off x="4895563" y="7943706"/>
            <a:ext cx="880034" cy="247314"/>
          </a:xfrm>
          <a:custGeom>
            <a:avLst/>
            <a:gdLst/>
            <a:ahLst/>
            <a:cxnLst/>
            <a:rect r="r" b="b" t="t" l="l"/>
            <a:pathLst>
              <a:path h="247314" w="880034">
                <a:moveTo>
                  <a:pt x="0" y="247314"/>
                </a:moveTo>
                <a:quadBezTo>
                  <a:pt x="426827" y="-234628"/>
                  <a:pt x="880035" y="222594"/>
                </a:quadBezTo>
              </a:path>
            </a:pathLst>
          </a:cu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9" id="29"/>
          <p:cNvSpPr/>
          <p:nvPr/>
        </p:nvSpPr>
        <p:spPr>
          <a:xfrm>
            <a:off x="8818259" y="7965750"/>
            <a:ext cx="880034" cy="247314"/>
          </a:xfrm>
          <a:custGeom>
            <a:avLst/>
            <a:gdLst/>
            <a:ahLst/>
            <a:cxnLst/>
            <a:rect r="r" b="b" t="t" l="l"/>
            <a:pathLst>
              <a:path h="247314" w="880034">
                <a:moveTo>
                  <a:pt x="0" y="247313"/>
                </a:moveTo>
                <a:quadBezTo>
                  <a:pt x="426827" y="-234629"/>
                  <a:pt x="880034" y="222593"/>
                </a:quadBezTo>
              </a:path>
            </a:pathLst>
          </a:cu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0" id="30"/>
          <p:cNvSpPr/>
          <p:nvPr/>
        </p:nvSpPr>
        <p:spPr>
          <a:xfrm>
            <a:off x="12740955" y="7987793"/>
            <a:ext cx="880034" cy="247314"/>
          </a:xfrm>
          <a:custGeom>
            <a:avLst/>
            <a:gdLst/>
            <a:ahLst/>
            <a:cxnLst/>
            <a:rect r="r" b="b" t="t" l="l"/>
            <a:pathLst>
              <a:path h="247314" w="880034">
                <a:moveTo>
                  <a:pt x="0" y="247314"/>
                </a:moveTo>
                <a:quadBezTo>
                  <a:pt x="426826" y="-234628"/>
                  <a:pt x="880034" y="222594"/>
                </a:quadBezTo>
              </a:path>
            </a:pathLst>
          </a:custGeom>
          <a:ln cap="rnd" w="47625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2347549" y="2977136"/>
            <a:ext cx="541414" cy="473737"/>
          </a:xfrm>
          <a:custGeom>
            <a:avLst/>
            <a:gdLst/>
            <a:ahLst/>
            <a:cxnLst/>
            <a:rect r="r" b="b" t="t" l="l"/>
            <a:pathLst>
              <a:path h="473737" w="541414">
                <a:moveTo>
                  <a:pt x="0" y="0"/>
                </a:moveTo>
                <a:lnTo>
                  <a:pt x="541414" y="0"/>
                </a:lnTo>
                <a:lnTo>
                  <a:pt x="541414" y="473737"/>
                </a:lnTo>
                <a:lnTo>
                  <a:pt x="0" y="4737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732669" y="2977136"/>
            <a:ext cx="541414" cy="473737"/>
          </a:xfrm>
          <a:custGeom>
            <a:avLst/>
            <a:gdLst/>
            <a:ahLst/>
            <a:cxnLst/>
            <a:rect r="r" b="b" t="t" l="l"/>
            <a:pathLst>
              <a:path h="473737" w="541414">
                <a:moveTo>
                  <a:pt x="0" y="0"/>
                </a:moveTo>
                <a:lnTo>
                  <a:pt x="541414" y="0"/>
                </a:lnTo>
                <a:lnTo>
                  <a:pt x="541414" y="473737"/>
                </a:lnTo>
                <a:lnTo>
                  <a:pt x="0" y="4737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989647" y="2977136"/>
            <a:ext cx="541414" cy="473737"/>
          </a:xfrm>
          <a:custGeom>
            <a:avLst/>
            <a:gdLst/>
            <a:ahLst/>
            <a:cxnLst/>
            <a:rect r="r" b="b" t="t" l="l"/>
            <a:pathLst>
              <a:path h="473737" w="541414">
                <a:moveTo>
                  <a:pt x="0" y="0"/>
                </a:moveTo>
                <a:lnTo>
                  <a:pt x="541414" y="0"/>
                </a:lnTo>
                <a:lnTo>
                  <a:pt x="541414" y="473737"/>
                </a:lnTo>
                <a:lnTo>
                  <a:pt x="0" y="4737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347729" y="2977136"/>
            <a:ext cx="541414" cy="473737"/>
          </a:xfrm>
          <a:custGeom>
            <a:avLst/>
            <a:gdLst/>
            <a:ahLst/>
            <a:cxnLst/>
            <a:rect r="r" b="b" t="t" l="l"/>
            <a:pathLst>
              <a:path h="473737" w="541414">
                <a:moveTo>
                  <a:pt x="0" y="0"/>
                </a:moveTo>
                <a:lnTo>
                  <a:pt x="541414" y="0"/>
                </a:lnTo>
                <a:lnTo>
                  <a:pt x="541414" y="473737"/>
                </a:lnTo>
                <a:lnTo>
                  <a:pt x="0" y="4737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55343" y="447571"/>
            <a:ext cx="10429322" cy="74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4"/>
              </a:lnSpc>
              <a:spcBef>
                <a:spcPct val="0"/>
              </a:spcBef>
            </a:pPr>
            <a:r>
              <a:rPr lang="en-US" b="true" sz="4394" spc="-87" strike="noStrike" u="none">
                <a:solidFill>
                  <a:srgbClr val="1E2F52"/>
                </a:solidFill>
                <a:latin typeface="Cabin Semi-Bold"/>
                <a:ea typeface="Cabin Semi-Bold"/>
                <a:cs typeface="Cabin Semi-Bold"/>
                <a:sym typeface="Cabin Semi-Bold"/>
              </a:rPr>
              <a:t>Sơ đồ UML: Service điều phối mô phỏng</a:t>
            </a:r>
          </a:p>
        </p:txBody>
      </p:sp>
      <p:sp>
        <p:nvSpPr>
          <p:cNvPr name="Freeform 4" id="4" descr="Sơ đồ UML Service nguyên bản: SimulationEngine tham chiếu Farm, dùng SensorHub, tạo Reading và Alert."/>
          <p:cNvSpPr/>
          <p:nvPr/>
        </p:nvSpPr>
        <p:spPr>
          <a:xfrm flipH="false" flipV="false" rot="0">
            <a:off x="3916542" y="1506425"/>
            <a:ext cx="9871194" cy="8253539"/>
          </a:xfrm>
          <a:custGeom>
            <a:avLst/>
            <a:gdLst/>
            <a:ahLst/>
            <a:cxnLst/>
            <a:rect r="r" b="b" t="t" l="l"/>
            <a:pathLst>
              <a:path h="8253539" w="9871194">
                <a:moveTo>
                  <a:pt x="0" y="0"/>
                </a:moveTo>
                <a:lnTo>
                  <a:pt x="9871194" y="0"/>
                </a:lnTo>
                <a:lnTo>
                  <a:pt x="9871194" y="8253539"/>
                </a:lnTo>
                <a:lnTo>
                  <a:pt x="0" y="8253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" t="0" r="-3139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55343" y="9258300"/>
            <a:ext cx="649644" cy="1028700"/>
          </a:xfrm>
          <a:custGeom>
            <a:avLst/>
            <a:gdLst/>
            <a:ahLst/>
            <a:cxnLst/>
            <a:rect r="r" b="b" t="t" l="l"/>
            <a:pathLst>
              <a:path h="1028700" w="649644">
                <a:moveTo>
                  <a:pt x="0" y="0"/>
                </a:moveTo>
                <a:lnTo>
                  <a:pt x="649645" y="0"/>
                </a:lnTo>
                <a:lnTo>
                  <a:pt x="64964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21" r="0" b="-52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74716" y="9258300"/>
            <a:ext cx="649644" cy="1028700"/>
          </a:xfrm>
          <a:custGeom>
            <a:avLst/>
            <a:gdLst/>
            <a:ahLst/>
            <a:cxnLst/>
            <a:rect r="r" b="b" t="t" l="l"/>
            <a:pathLst>
              <a:path h="1028700" w="649644">
                <a:moveTo>
                  <a:pt x="0" y="0"/>
                </a:moveTo>
                <a:lnTo>
                  <a:pt x="649644" y="0"/>
                </a:lnTo>
                <a:lnTo>
                  <a:pt x="64964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21" r="0" b="-521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57275" y="3894862"/>
          <a:ext cx="16202025" cy="5922588"/>
        </p:xfrm>
        <a:graphic>
          <a:graphicData uri="http://schemas.openxmlformats.org/drawingml/2006/table">
            <a:tbl>
              <a:tblPr/>
              <a:tblGrid>
                <a:gridCol w="4342354"/>
                <a:gridCol w="6418330"/>
                <a:gridCol w="5441340"/>
              </a:tblGrid>
              <a:tr h="8852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Khó Khăn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96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Giải pháp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961A"/>
                    </a:solidFill>
                  </a:tcPr>
                </a:tc>
              </a:tr>
              <a:tr h="15169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Tự vẽ đồng hồ trực quan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Swing thiếu gauge sẵn.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Nét vẽ răng cưa, thiếu mượt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Override paintComponent()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Graphics2D và anti-aliasing giảm răng cưa</a:t>
                      </a:r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Đổi màu theo trạng thái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741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Chặn cấu hình sai trước khi lưu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Min ≥ Max gây cấu hình sai.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Cảnh báo giả, dữ liệu không hợp lệ</a:t>
                      </a:r>
                    </a:p>
                    <a:p>
                      <a:pPr algn="ctr">
                        <a:lnSpc>
                          <a:spcPts val="29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Kiểm tra Min &lt; Max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InvalidThresholdException và try-catch</a:t>
                      </a:r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JOptionPane báo lỗi thân thiện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46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Bảo vệ danh sách bên trong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Bên ngoài có thể thêm/xóa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Qua collection nội bộ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spc="-41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Collections.unmodifiableList()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 spc="-41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Không phải bản sao độc lập</a:t>
                      </a:r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 spc="-41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trả view chỉ đọc</a:t>
                      </a:r>
                    </a:p>
                    <a:p>
                      <a:pPr algn="ctr">
                        <a:lnSpc>
                          <a:spcPts val="29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3999042" y="-57150"/>
            <a:ext cx="10447250" cy="3732012"/>
          </a:xfrm>
          <a:custGeom>
            <a:avLst/>
            <a:gdLst/>
            <a:ahLst/>
            <a:cxnLst/>
            <a:rect r="r" b="b" t="t" l="l"/>
            <a:pathLst>
              <a:path h="3732012" w="10447250">
                <a:moveTo>
                  <a:pt x="0" y="0"/>
                </a:moveTo>
                <a:lnTo>
                  <a:pt x="10447250" y="0"/>
                </a:lnTo>
                <a:lnTo>
                  <a:pt x="10447250" y="3732012"/>
                </a:lnTo>
                <a:lnTo>
                  <a:pt x="0" y="3732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15296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58426" y="289968"/>
            <a:ext cx="9393831" cy="2866353"/>
            <a:chOff x="0" y="0"/>
            <a:chExt cx="12525109" cy="382180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306184"/>
              <a:ext cx="12525109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3825"/>
              <a:ext cx="12525109" cy="2475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999"/>
                </a:lnSpc>
              </a:pPr>
              <a:r>
                <a:rPr lang="en-US" sz="6999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Hoàn thiện đồ họa, bảo vệ dữ liệu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330" y="4493047"/>
            <a:ext cx="5239206" cy="874559"/>
          </a:xfrm>
          <a:custGeom>
            <a:avLst/>
            <a:gdLst/>
            <a:ahLst/>
            <a:cxnLst/>
            <a:rect r="r" b="b" t="t" l="l"/>
            <a:pathLst>
              <a:path h="874559" w="5239206">
                <a:moveTo>
                  <a:pt x="0" y="0"/>
                </a:moveTo>
                <a:lnTo>
                  <a:pt x="5239206" y="0"/>
                </a:lnTo>
                <a:lnTo>
                  <a:pt x="5239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7838" y="4693945"/>
            <a:ext cx="1252804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b="true" sz="2179" spc="-21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KHÓ KHĂN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5138034"/>
            <a:ext cx="5239206" cy="4722618"/>
          </a:xfrm>
          <a:custGeom>
            <a:avLst/>
            <a:gdLst/>
            <a:ahLst/>
            <a:cxnLst/>
            <a:rect r="r" b="b" t="t" l="l"/>
            <a:pathLst>
              <a:path h="4722618" w="5239206">
                <a:moveTo>
                  <a:pt x="0" y="0"/>
                </a:moveTo>
                <a:lnTo>
                  <a:pt x="5239206" y="0"/>
                </a:lnTo>
                <a:lnTo>
                  <a:pt x="5239206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1952" y="6428009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2842" y="7280704"/>
            <a:ext cx="4364182" cy="229572"/>
          </a:xfrm>
          <a:custGeom>
            <a:avLst/>
            <a:gdLst/>
            <a:ahLst/>
            <a:cxnLst/>
            <a:rect r="r" b="b" t="t" l="l"/>
            <a:pathLst>
              <a:path h="229572" w="4364182">
                <a:moveTo>
                  <a:pt x="0" y="0"/>
                </a:moveTo>
                <a:lnTo>
                  <a:pt x="4364182" y="0"/>
                </a:lnTo>
                <a:lnTo>
                  <a:pt x="436418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6805" y="7480201"/>
            <a:ext cx="1228045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b="true" sz="2179" spc="-21">
                <a:solidFill>
                  <a:srgbClr val="EB5B0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GIẢI PHÁP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9086" y="8004876"/>
            <a:ext cx="4232672" cy="162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spc="-21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Observer</a:t>
            </a:r>
          </a:p>
          <a:p>
            <a:pPr algn="l">
              <a:lnSpc>
                <a:spcPts val="3282"/>
              </a:lnSpc>
            </a:pPr>
            <a:r>
              <a:rPr lang="en-US" sz="2188" spc="-21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SensorHub phát sự kiện</a:t>
            </a:r>
          </a:p>
          <a:p>
            <a:pPr algn="l">
              <a:lnSpc>
                <a:spcPts val="3282"/>
              </a:lnSpc>
            </a:pPr>
            <a:r>
              <a:rPr lang="en-US" sz="2188" spc="-21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SensorListener kết nối gauge,</a:t>
            </a:r>
          </a:p>
          <a:p>
            <a:pPr algn="l">
              <a:lnSpc>
                <a:spcPts val="3282"/>
              </a:lnSpc>
            </a:pPr>
            <a:r>
              <a:rPr lang="en-US" sz="2188" spc="-21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nhật ký, biểu đồ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311110" y="4493047"/>
            <a:ext cx="5447024" cy="874559"/>
          </a:xfrm>
          <a:custGeom>
            <a:avLst/>
            <a:gdLst/>
            <a:ahLst/>
            <a:cxnLst/>
            <a:rect r="r" b="b" t="t" l="l"/>
            <a:pathLst>
              <a:path h="874559" w="5447024">
                <a:moveTo>
                  <a:pt x="0" y="0"/>
                </a:moveTo>
                <a:lnTo>
                  <a:pt x="5447024" y="0"/>
                </a:lnTo>
                <a:lnTo>
                  <a:pt x="5447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06334" y="4693945"/>
            <a:ext cx="1252804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b="true" sz="2179" spc="-21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KHÓ KHĂN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311110" y="5138034"/>
            <a:ext cx="5447024" cy="4722618"/>
          </a:xfrm>
          <a:custGeom>
            <a:avLst/>
            <a:gdLst/>
            <a:ahLst/>
            <a:cxnLst/>
            <a:rect r="r" b="b" t="t" l="l"/>
            <a:pathLst>
              <a:path h="4722618" w="5447024">
                <a:moveTo>
                  <a:pt x="0" y="0"/>
                </a:moveTo>
                <a:lnTo>
                  <a:pt x="5447024" y="0"/>
                </a:lnTo>
                <a:lnTo>
                  <a:pt x="5447024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58000" y="5446185"/>
            <a:ext cx="4232672" cy="84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82"/>
              </a:lnSpc>
              <a:spcBef>
                <a:spcPct val="0"/>
              </a:spcBef>
            </a:pPr>
            <a:r>
              <a:rPr lang="en-US" sz="2321" spc="-22" strike="noStrike" u="none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while(true), Thread.sleep()</a:t>
            </a:r>
          </a:p>
          <a:p>
            <a:pPr algn="ctr" marL="0" indent="0" lvl="0">
              <a:lnSpc>
                <a:spcPts val="3482"/>
              </a:lnSpc>
              <a:spcBef>
                <a:spcPct val="0"/>
              </a:spcBef>
            </a:pPr>
            <a:r>
              <a:rPr lang="en-US" sz="2321" spc="-22" strike="noStrike" u="none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trên EDT làm đơ UI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06488" y="6428009"/>
            <a:ext cx="656268" cy="644987"/>
          </a:xfrm>
          <a:custGeom>
            <a:avLst/>
            <a:gdLst/>
            <a:ahLst/>
            <a:cxnLst/>
            <a:rect r="r" b="b" t="t" l="l"/>
            <a:pathLst>
              <a:path h="644987" w="656268">
                <a:moveTo>
                  <a:pt x="0" y="0"/>
                </a:moveTo>
                <a:lnTo>
                  <a:pt x="656268" y="0"/>
                </a:lnTo>
                <a:lnTo>
                  <a:pt x="656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48622" y="7280704"/>
            <a:ext cx="4790756" cy="229572"/>
          </a:xfrm>
          <a:custGeom>
            <a:avLst/>
            <a:gdLst/>
            <a:ahLst/>
            <a:cxnLst/>
            <a:rect r="r" b="b" t="t" l="l"/>
            <a:pathLst>
              <a:path h="229572" w="4790756">
                <a:moveTo>
                  <a:pt x="0" y="0"/>
                </a:moveTo>
                <a:lnTo>
                  <a:pt x="4790756" y="0"/>
                </a:lnTo>
                <a:lnTo>
                  <a:pt x="479075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45720" y="7480201"/>
            <a:ext cx="1228045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b="true" sz="2179" spc="-21">
                <a:solidFill>
                  <a:srgbClr val="EB5B0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GIẢI PHÁP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22454" y="7921258"/>
            <a:ext cx="3554567" cy="9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0"/>
              </a:lnSpc>
              <a:spcBef>
                <a:spcPct val="0"/>
              </a:spcBef>
            </a:pPr>
            <a:r>
              <a:rPr lang="en-US" sz="2311" spc="-22" strike="noStrike" u="none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javax.swing.Timer mỗi giây,</a:t>
            </a:r>
          </a:p>
          <a:p>
            <a:pPr algn="l" marL="0" indent="0" lvl="0">
              <a:lnSpc>
                <a:spcPts val="3930"/>
              </a:lnSpc>
              <a:spcBef>
                <a:spcPct val="0"/>
              </a:spcBef>
            </a:pPr>
            <a:r>
              <a:rPr lang="en-US" sz="2311" spc="-22" strike="noStrike" u="none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callback ngắn trên EDT.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184708" y="4493047"/>
            <a:ext cx="5457962" cy="874559"/>
          </a:xfrm>
          <a:custGeom>
            <a:avLst/>
            <a:gdLst/>
            <a:ahLst/>
            <a:cxnLst/>
            <a:rect r="r" b="b" t="t" l="l"/>
            <a:pathLst>
              <a:path h="874559" w="5457962">
                <a:moveTo>
                  <a:pt x="0" y="0"/>
                </a:moveTo>
                <a:lnTo>
                  <a:pt x="5457962" y="0"/>
                </a:lnTo>
                <a:lnTo>
                  <a:pt x="5457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273139" y="4693945"/>
            <a:ext cx="1252804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b="true" sz="2179" spc="-21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KHÓ KHĂN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184708" y="5138034"/>
            <a:ext cx="5457962" cy="4722618"/>
          </a:xfrm>
          <a:custGeom>
            <a:avLst/>
            <a:gdLst/>
            <a:ahLst/>
            <a:cxnLst/>
            <a:rect r="r" b="b" t="t" l="l"/>
            <a:pathLst>
              <a:path h="4722618" w="5457962">
                <a:moveTo>
                  <a:pt x="0" y="0"/>
                </a:moveTo>
                <a:lnTo>
                  <a:pt x="5457962" y="0"/>
                </a:lnTo>
                <a:lnTo>
                  <a:pt x="545796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580086" y="6428009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622220" y="7280704"/>
            <a:ext cx="4582938" cy="229572"/>
          </a:xfrm>
          <a:custGeom>
            <a:avLst/>
            <a:gdLst/>
            <a:ahLst/>
            <a:cxnLst/>
            <a:rect r="r" b="b" t="t" l="l"/>
            <a:pathLst>
              <a:path h="229572" w="4582938">
                <a:moveTo>
                  <a:pt x="0" y="0"/>
                </a:moveTo>
                <a:lnTo>
                  <a:pt x="4582938" y="0"/>
                </a:lnTo>
                <a:lnTo>
                  <a:pt x="458293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819680" y="7480201"/>
            <a:ext cx="1228045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b="true" sz="2179" spc="-21">
                <a:solidFill>
                  <a:srgbClr val="EB5B0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GIẢI PHÁP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95068" y="7921258"/>
            <a:ext cx="3689316" cy="1422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311" spc="-22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LogTableModel dùng LinkedList</a:t>
            </a:r>
          </a:p>
          <a:p>
            <a:pPr algn="l">
              <a:lnSpc>
                <a:spcPts val="3930"/>
              </a:lnSpc>
            </a:pPr>
            <a:r>
              <a:rPr lang="en-US" sz="2311" spc="-22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thêm đầu/xóa cuối O(1)</a:t>
            </a:r>
          </a:p>
          <a:p>
            <a:pPr algn="l">
              <a:lnSpc>
                <a:spcPts val="3930"/>
              </a:lnSpc>
            </a:pPr>
            <a:r>
              <a:rPr lang="en-US" sz="2311" spc="-22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giữ 200 bản ghi gần nhất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10492" y="5446185"/>
            <a:ext cx="4661297" cy="84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321" spc="-22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Nhật ký tăng vô hạn,</a:t>
            </a:r>
          </a:p>
          <a:p>
            <a:pPr algn="ctr">
              <a:lnSpc>
                <a:spcPts val="3482"/>
              </a:lnSpc>
            </a:pPr>
            <a:r>
              <a:rPr lang="en-US" sz="2321" spc="-22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tiêu tốn RAM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5726" y="4001146"/>
            <a:ext cx="3817026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b="true" sz="2179" spc="-2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TÁCH CẢM BIẾN KHỎI GIAO DIỆN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3305" y="5446185"/>
            <a:ext cx="4875609" cy="84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321" spc="-22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UI phụ thuộc</a:t>
            </a:r>
          </a:p>
          <a:p>
            <a:pPr algn="ctr">
              <a:lnSpc>
                <a:spcPts val="3482"/>
              </a:lnSpc>
            </a:pPr>
            <a:r>
              <a:rPr lang="en-US" sz="2321" spc="-22">
                <a:solidFill>
                  <a:srgbClr val="6666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trực tiếp Sensor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0" y="1295751"/>
            <a:ext cx="9830573" cy="620320"/>
            <a:chOff x="0" y="0"/>
            <a:chExt cx="13107431" cy="827093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3107431" cy="827093"/>
              <a:chOff x="0" y="0"/>
              <a:chExt cx="35995220" cy="253911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178" y="165"/>
                <a:ext cx="35995071" cy="2539185"/>
              </a:xfrm>
              <a:custGeom>
                <a:avLst/>
                <a:gdLst/>
                <a:ahLst/>
                <a:cxnLst/>
                <a:rect r="r" b="b" t="t" l="l"/>
                <a:pathLst>
                  <a:path h="2539185" w="35995071">
                    <a:moveTo>
                      <a:pt x="35985644" y="1272375"/>
                    </a:moveTo>
                    <a:cubicBezTo>
                      <a:pt x="35971164" y="1345019"/>
                      <a:pt x="35943606" y="1457922"/>
                      <a:pt x="35899411" y="1561808"/>
                    </a:cubicBezTo>
                    <a:cubicBezTo>
                      <a:pt x="35866771" y="1638389"/>
                      <a:pt x="35821688" y="1709763"/>
                      <a:pt x="35776094" y="1779232"/>
                    </a:cubicBezTo>
                    <a:cubicBezTo>
                      <a:pt x="35676779" y="1930743"/>
                      <a:pt x="35568829" y="2091779"/>
                      <a:pt x="35423542" y="2202904"/>
                    </a:cubicBezTo>
                    <a:cubicBezTo>
                      <a:pt x="35240028" y="2343112"/>
                      <a:pt x="35010792" y="2410549"/>
                      <a:pt x="34785367" y="2444585"/>
                    </a:cubicBezTo>
                    <a:cubicBezTo>
                      <a:pt x="34524000" y="2484082"/>
                      <a:pt x="34259334" y="2481161"/>
                      <a:pt x="33995682" y="2487130"/>
                    </a:cubicBezTo>
                    <a:cubicBezTo>
                      <a:pt x="33725171" y="2493353"/>
                      <a:pt x="33455042" y="2509228"/>
                      <a:pt x="33184913" y="2523833"/>
                    </a:cubicBezTo>
                    <a:cubicBezTo>
                      <a:pt x="2562555" y="2552789"/>
                      <a:pt x="1805381" y="2543391"/>
                      <a:pt x="1272743" y="2473160"/>
                    </a:cubicBezTo>
                    <a:cubicBezTo>
                      <a:pt x="821766" y="2413724"/>
                      <a:pt x="567766" y="2303361"/>
                      <a:pt x="266903" y="1941538"/>
                    </a:cubicBezTo>
                    <a:cubicBezTo>
                      <a:pt x="131394" y="1778597"/>
                      <a:pt x="34874" y="1582128"/>
                      <a:pt x="8966" y="1370546"/>
                    </a:cubicBezTo>
                    <a:cubicBezTo>
                      <a:pt x="-19736" y="1272375"/>
                      <a:pt x="20015" y="1073620"/>
                      <a:pt x="134823" y="872071"/>
                    </a:cubicBezTo>
                    <a:cubicBezTo>
                      <a:pt x="252552" y="665188"/>
                      <a:pt x="343611" y="502882"/>
                      <a:pt x="541858" y="367373"/>
                    </a:cubicBezTo>
                    <a:cubicBezTo>
                      <a:pt x="743661" y="229324"/>
                      <a:pt x="1074369" y="208115"/>
                      <a:pt x="1309573" y="147917"/>
                    </a:cubicBezTo>
                    <a:cubicBezTo>
                      <a:pt x="1373962" y="131407"/>
                      <a:pt x="1438859" y="116802"/>
                      <a:pt x="1504010" y="103721"/>
                    </a:cubicBezTo>
                    <a:cubicBezTo>
                      <a:pt x="1569034" y="90767"/>
                      <a:pt x="1753057" y="47968"/>
                      <a:pt x="1819224" y="43523"/>
                    </a:cubicBezTo>
                    <a:cubicBezTo>
                      <a:pt x="2115007" y="23711"/>
                      <a:pt x="2041347" y="39967"/>
                      <a:pt x="2169998" y="25362"/>
                    </a:cubicBezTo>
                    <a:cubicBezTo>
                      <a:pt x="2436317" y="-5118"/>
                      <a:pt x="2685999" y="8344"/>
                      <a:pt x="18593729" y="978"/>
                    </a:cubicBezTo>
                    <a:cubicBezTo>
                      <a:pt x="33317246" y="-6642"/>
                      <a:pt x="33642748" y="32982"/>
                      <a:pt x="33918592" y="25362"/>
                    </a:cubicBezTo>
                    <a:cubicBezTo>
                      <a:pt x="34182244" y="18123"/>
                      <a:pt x="34527048" y="36030"/>
                      <a:pt x="34789686" y="66129"/>
                    </a:cubicBezTo>
                    <a:cubicBezTo>
                      <a:pt x="35224788" y="115786"/>
                      <a:pt x="35471803" y="154521"/>
                      <a:pt x="35722882" y="533616"/>
                    </a:cubicBezTo>
                    <a:cubicBezTo>
                      <a:pt x="35786890" y="631660"/>
                      <a:pt x="35844167" y="734022"/>
                      <a:pt x="35889886" y="841972"/>
                    </a:cubicBezTo>
                    <a:cubicBezTo>
                      <a:pt x="35976119" y="1046315"/>
                      <a:pt x="36014346" y="1267295"/>
                      <a:pt x="35985644" y="1272375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174607" y="150022"/>
              <a:ext cx="3423706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613811" y="1233310"/>
            <a:ext cx="6459953" cy="63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1"/>
              </a:lnSpc>
            </a:pPr>
            <a:r>
              <a:rPr lang="en-US" sz="3440" spc="33" b="true">
                <a:solidFill>
                  <a:srgbClr val="6666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Gỡ nút thắt dữ liệu, duy trì giao diện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23305" y="3730275"/>
            <a:ext cx="5025634" cy="940520"/>
            <a:chOff x="0" y="0"/>
            <a:chExt cx="10362524" cy="1939290"/>
          </a:xfrm>
        </p:grpSpPr>
        <p:sp>
          <p:nvSpPr>
            <p:cNvPr name="Freeform 34" id="3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12700" y="12700"/>
              <a:ext cx="10337124" cy="1913890"/>
            </a:xfrm>
            <a:custGeom>
              <a:avLst/>
              <a:gdLst/>
              <a:ahLst/>
              <a:cxnLst/>
              <a:rect r="r" b="b" t="t" l="l"/>
              <a:pathLst>
                <a:path h="1913890" w="10337124">
                  <a:moveTo>
                    <a:pt x="9380179" y="1913890"/>
                  </a:move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9380179" y="0"/>
                  </a:lnTo>
                  <a:cubicBezTo>
                    <a:pt x="9908626" y="0"/>
                    <a:pt x="10337124" y="428371"/>
                    <a:pt x="10337124" y="956945"/>
                  </a:cubicBezTo>
                  <a:cubicBezTo>
                    <a:pt x="10337124" y="1485392"/>
                    <a:pt x="9908626" y="1913890"/>
                    <a:pt x="9380179" y="1913890"/>
                  </a:cubicBezTo>
                  <a:close/>
                </a:path>
              </a:pathLst>
            </a:custGeom>
            <a:solidFill>
              <a:srgbClr val="D6DFCC"/>
            </a:solidFill>
          </p:spPr>
        </p:sp>
        <p:sp>
          <p:nvSpPr>
            <p:cNvPr name="Freeform 35" id="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0362524" cy="1939290"/>
            </a:xfrm>
            <a:custGeom>
              <a:avLst/>
              <a:gdLst/>
              <a:ahLst/>
              <a:cxnLst/>
              <a:rect r="r" b="b" t="t" l="l"/>
              <a:pathLst>
                <a:path h="1939290" w="10362524">
                  <a:moveTo>
                    <a:pt x="9392879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9392879" y="1939290"/>
                  </a:lnTo>
                  <a:cubicBezTo>
                    <a:pt x="9927549" y="1939290"/>
                    <a:pt x="10362524" y="1504315"/>
                    <a:pt x="10362524" y="969645"/>
                  </a:cubicBezTo>
                  <a:cubicBezTo>
                    <a:pt x="10362524" y="434975"/>
                    <a:pt x="9927549" y="0"/>
                    <a:pt x="9392879" y="0"/>
                  </a:cubicBezTo>
                  <a:close/>
                  <a:moveTo>
                    <a:pt x="9392879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9392879" y="25400"/>
                  </a:lnTo>
                  <a:cubicBezTo>
                    <a:pt x="9913579" y="25400"/>
                    <a:pt x="10337124" y="448945"/>
                    <a:pt x="10337124" y="969645"/>
                  </a:cubicBezTo>
                  <a:cubicBezTo>
                    <a:pt x="10337124" y="1490345"/>
                    <a:pt x="9913579" y="1913890"/>
                    <a:pt x="9392879" y="1913890"/>
                  </a:cubicBezTo>
                  <a:close/>
                </a:path>
              </a:pathLst>
            </a:custGeom>
            <a:solidFill>
              <a:srgbClr val="F3FAD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24698" y="3996644"/>
            <a:ext cx="432232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Tách cảm biến khỏi giao diện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374347" y="3711225"/>
            <a:ext cx="5320549" cy="940520"/>
            <a:chOff x="0" y="0"/>
            <a:chExt cx="10970619" cy="1939290"/>
          </a:xfrm>
        </p:grpSpPr>
        <p:sp>
          <p:nvSpPr>
            <p:cNvPr name="Freeform 38" id="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12700" y="12700"/>
              <a:ext cx="1094522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0945220">
                  <a:moveTo>
                    <a:pt x="9988274" y="1913890"/>
                  </a:move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9988274" y="0"/>
                  </a:lnTo>
                  <a:cubicBezTo>
                    <a:pt x="10516721" y="0"/>
                    <a:pt x="10945220" y="428371"/>
                    <a:pt x="10945220" y="956945"/>
                  </a:cubicBezTo>
                  <a:cubicBezTo>
                    <a:pt x="10945220" y="1485392"/>
                    <a:pt x="10516722" y="1913890"/>
                    <a:pt x="9988274" y="1913890"/>
                  </a:cubicBezTo>
                  <a:close/>
                </a:path>
              </a:pathLst>
            </a:custGeom>
            <a:solidFill>
              <a:srgbClr val="B9BBDD"/>
            </a:solidFill>
          </p:spPr>
        </p:sp>
        <p:sp>
          <p:nvSpPr>
            <p:cNvPr name="Freeform 39" id="3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0970620" cy="1939290"/>
            </a:xfrm>
            <a:custGeom>
              <a:avLst/>
              <a:gdLst/>
              <a:ahLst/>
              <a:cxnLst/>
              <a:rect r="r" b="b" t="t" l="l"/>
              <a:pathLst>
                <a:path h="1939290" w="10970620">
                  <a:moveTo>
                    <a:pt x="10000974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10000974" y="1939290"/>
                  </a:lnTo>
                  <a:cubicBezTo>
                    <a:pt x="10535645" y="1939290"/>
                    <a:pt x="10970620" y="1504315"/>
                    <a:pt x="10970620" y="969645"/>
                  </a:cubicBezTo>
                  <a:cubicBezTo>
                    <a:pt x="10970620" y="434975"/>
                    <a:pt x="10535645" y="0"/>
                    <a:pt x="10000974" y="0"/>
                  </a:cubicBezTo>
                  <a:close/>
                  <a:moveTo>
                    <a:pt x="10000974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10000974" y="25400"/>
                  </a:lnTo>
                  <a:cubicBezTo>
                    <a:pt x="10521674" y="25400"/>
                    <a:pt x="10945220" y="448945"/>
                    <a:pt x="10945220" y="969645"/>
                  </a:cubicBezTo>
                  <a:cubicBezTo>
                    <a:pt x="10945220" y="1490345"/>
                    <a:pt x="10521674" y="1913890"/>
                    <a:pt x="10000974" y="1913890"/>
                  </a:cubicBezTo>
                  <a:close/>
                </a:path>
              </a:pathLst>
            </a:custGeom>
            <a:solidFill>
              <a:srgbClr val="B9BBDD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6921222" y="3987119"/>
            <a:ext cx="4445556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spc="-2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Tránh treo khi cập nhật liên tục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</p:txBody>
      </p:sp>
      <p:grpSp>
        <p:nvGrpSpPr>
          <p:cNvPr name="Group 41" id="41"/>
          <p:cNvGrpSpPr/>
          <p:nvPr/>
        </p:nvGrpSpPr>
        <p:grpSpPr>
          <a:xfrm rot="0">
            <a:off x="12310584" y="3761334"/>
            <a:ext cx="5322561" cy="940520"/>
            <a:chOff x="0" y="0"/>
            <a:chExt cx="10974767" cy="1939290"/>
          </a:xfrm>
        </p:grpSpPr>
        <p:sp>
          <p:nvSpPr>
            <p:cNvPr name="Freeform 42" id="4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12700" y="12700"/>
              <a:ext cx="10949367" cy="1913890"/>
            </a:xfrm>
            <a:custGeom>
              <a:avLst/>
              <a:gdLst/>
              <a:ahLst/>
              <a:cxnLst/>
              <a:rect r="r" b="b" t="t" l="l"/>
              <a:pathLst>
                <a:path h="1913890" w="10949367">
                  <a:moveTo>
                    <a:pt x="9992422" y="1913890"/>
                  </a:moveTo>
                  <a:lnTo>
                    <a:pt x="956945" y="1913890"/>
                  </a:lnTo>
                  <a:cubicBezTo>
                    <a:pt x="428371" y="1913890"/>
                    <a:pt x="0" y="1485392"/>
                    <a:pt x="0" y="956945"/>
                  </a:cubicBezTo>
                  <a:cubicBezTo>
                    <a:pt x="0" y="428371"/>
                    <a:pt x="428371" y="0"/>
                    <a:pt x="956945" y="0"/>
                  </a:cubicBezTo>
                  <a:lnTo>
                    <a:pt x="9992422" y="0"/>
                  </a:lnTo>
                  <a:cubicBezTo>
                    <a:pt x="10520869" y="0"/>
                    <a:pt x="10949367" y="428371"/>
                    <a:pt x="10949367" y="956945"/>
                  </a:cubicBezTo>
                  <a:cubicBezTo>
                    <a:pt x="10949367" y="1485392"/>
                    <a:pt x="10520869" y="1913890"/>
                    <a:pt x="9992422" y="1913890"/>
                  </a:cubicBezTo>
                  <a:close/>
                </a:path>
              </a:pathLst>
            </a:custGeom>
            <a:solidFill>
              <a:srgbClr val="D6DFCC"/>
            </a:solidFill>
          </p:spPr>
        </p:sp>
        <p:sp>
          <p:nvSpPr>
            <p:cNvPr name="Freeform 43" id="4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0974767" cy="1939290"/>
            </a:xfrm>
            <a:custGeom>
              <a:avLst/>
              <a:gdLst/>
              <a:ahLst/>
              <a:cxnLst/>
              <a:rect r="r" b="b" t="t" l="l"/>
              <a:pathLst>
                <a:path h="1939290" w="10974767">
                  <a:moveTo>
                    <a:pt x="10005122" y="0"/>
                  </a:moveTo>
                  <a:lnTo>
                    <a:pt x="969645" y="0"/>
                  </a:lnTo>
                  <a:cubicBezTo>
                    <a:pt x="434975" y="0"/>
                    <a:pt x="0" y="434975"/>
                    <a:pt x="0" y="969645"/>
                  </a:cubicBezTo>
                  <a:cubicBezTo>
                    <a:pt x="0" y="1504315"/>
                    <a:pt x="434975" y="1939290"/>
                    <a:pt x="969645" y="1939290"/>
                  </a:cubicBezTo>
                  <a:lnTo>
                    <a:pt x="10005122" y="1939290"/>
                  </a:lnTo>
                  <a:cubicBezTo>
                    <a:pt x="10539792" y="1939290"/>
                    <a:pt x="10974767" y="1504315"/>
                    <a:pt x="10974767" y="969645"/>
                  </a:cubicBezTo>
                  <a:cubicBezTo>
                    <a:pt x="10974767" y="434975"/>
                    <a:pt x="10539792" y="0"/>
                    <a:pt x="10005122" y="0"/>
                  </a:cubicBezTo>
                  <a:close/>
                  <a:moveTo>
                    <a:pt x="10005122" y="1913890"/>
                  </a:moveTo>
                  <a:lnTo>
                    <a:pt x="969645" y="1913890"/>
                  </a:lnTo>
                  <a:cubicBezTo>
                    <a:pt x="448945" y="1913890"/>
                    <a:pt x="25400" y="1490345"/>
                    <a:pt x="25400" y="969645"/>
                  </a:cubicBezTo>
                  <a:cubicBezTo>
                    <a:pt x="25400" y="448945"/>
                    <a:pt x="448945" y="25400"/>
                    <a:pt x="969645" y="25400"/>
                  </a:cubicBezTo>
                  <a:lnTo>
                    <a:pt x="10005122" y="25400"/>
                  </a:lnTo>
                  <a:cubicBezTo>
                    <a:pt x="10525822" y="25400"/>
                    <a:pt x="10949367" y="448945"/>
                    <a:pt x="10949367" y="969645"/>
                  </a:cubicBezTo>
                  <a:cubicBezTo>
                    <a:pt x="10949367" y="1490345"/>
                    <a:pt x="10525822" y="1913890"/>
                    <a:pt x="10005122" y="1913890"/>
                  </a:cubicBezTo>
                  <a:close/>
                </a:path>
              </a:pathLst>
            </a:custGeom>
            <a:solidFill>
              <a:srgbClr val="F3FADC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2468572" y="3822379"/>
            <a:ext cx="502563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Giới 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hạn lịch sử, kiểm soát bộ nhớ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52003" y="-209610"/>
            <a:ext cx="18572956" cy="10725270"/>
          </a:xfrm>
          <a:custGeom>
            <a:avLst/>
            <a:gdLst/>
            <a:ahLst/>
            <a:cxnLst/>
            <a:rect r="r" b="b" t="t" l="l"/>
            <a:pathLst>
              <a:path h="10725270" w="18572956">
                <a:moveTo>
                  <a:pt x="18572956" y="0"/>
                </a:moveTo>
                <a:lnTo>
                  <a:pt x="0" y="0"/>
                </a:lnTo>
                <a:lnTo>
                  <a:pt x="0" y="10725270"/>
                </a:lnTo>
                <a:lnTo>
                  <a:pt x="18572956" y="10725270"/>
                </a:lnTo>
                <a:lnTo>
                  <a:pt x="185729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391" t="0" r="-15939" b="-3279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2042" y="1365691"/>
            <a:ext cx="982521" cy="820673"/>
            <a:chOff x="0" y="0"/>
            <a:chExt cx="917764" cy="7665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7764" cy="766583"/>
            </a:xfrm>
            <a:custGeom>
              <a:avLst/>
              <a:gdLst/>
              <a:ahLst/>
              <a:cxnLst/>
              <a:rect r="r" b="b" t="t" l="l"/>
              <a:pathLst>
                <a:path h="766583" w="917764">
                  <a:moveTo>
                    <a:pt x="793304" y="766583"/>
                  </a:moveTo>
                  <a:lnTo>
                    <a:pt x="124460" y="766583"/>
                  </a:lnTo>
                  <a:cubicBezTo>
                    <a:pt x="55880" y="766583"/>
                    <a:pt x="0" y="710703"/>
                    <a:pt x="0" y="6421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42123"/>
                  </a:lnTo>
                  <a:cubicBezTo>
                    <a:pt x="917764" y="710703"/>
                    <a:pt x="861884" y="766583"/>
                    <a:pt x="793304" y="7665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443612" y="1365691"/>
            <a:ext cx="6951037" cy="820673"/>
            <a:chOff x="0" y="0"/>
            <a:chExt cx="6492895" cy="7665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92896" cy="766583"/>
            </a:xfrm>
            <a:custGeom>
              <a:avLst/>
              <a:gdLst/>
              <a:ahLst/>
              <a:cxnLst/>
              <a:rect r="r" b="b" t="t" l="l"/>
              <a:pathLst>
                <a:path h="766583" w="6492896">
                  <a:moveTo>
                    <a:pt x="6368435" y="766583"/>
                  </a:moveTo>
                  <a:lnTo>
                    <a:pt x="124460" y="766583"/>
                  </a:lnTo>
                  <a:cubicBezTo>
                    <a:pt x="55880" y="766583"/>
                    <a:pt x="0" y="710703"/>
                    <a:pt x="0" y="6421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642123"/>
                  </a:lnTo>
                  <a:cubicBezTo>
                    <a:pt x="6492896" y="710703"/>
                    <a:pt x="6437016" y="766583"/>
                    <a:pt x="6368436" y="7665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43612" y="2355384"/>
            <a:ext cx="6951037" cy="1613561"/>
            <a:chOff x="0" y="0"/>
            <a:chExt cx="6492895" cy="15072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92896" cy="1507212"/>
            </a:xfrm>
            <a:custGeom>
              <a:avLst/>
              <a:gdLst/>
              <a:ahLst/>
              <a:cxnLst/>
              <a:rect r="r" b="b" t="t" l="l"/>
              <a:pathLst>
                <a:path h="1507212" w="6492896">
                  <a:moveTo>
                    <a:pt x="6368435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1382752"/>
                  </a:lnTo>
                  <a:cubicBezTo>
                    <a:pt x="6492896" y="1451332"/>
                    <a:pt x="6437016" y="1507212"/>
                    <a:pt x="636843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72042" y="2643564"/>
            <a:ext cx="982521" cy="880254"/>
            <a:chOff x="0" y="0"/>
            <a:chExt cx="917764" cy="8222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7764" cy="822237"/>
            </a:xfrm>
            <a:custGeom>
              <a:avLst/>
              <a:gdLst/>
              <a:ahLst/>
              <a:cxnLst/>
              <a:rect r="r" b="b" t="t" l="l"/>
              <a:pathLst>
                <a:path h="822237" w="917764">
                  <a:moveTo>
                    <a:pt x="793304" y="822237"/>
                  </a:moveTo>
                  <a:lnTo>
                    <a:pt x="124460" y="822237"/>
                  </a:lnTo>
                  <a:cubicBezTo>
                    <a:pt x="55880" y="822237"/>
                    <a:pt x="0" y="766357"/>
                    <a:pt x="0" y="6977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97777"/>
                  </a:lnTo>
                  <a:cubicBezTo>
                    <a:pt x="917764" y="766357"/>
                    <a:pt x="861884" y="822237"/>
                    <a:pt x="793304" y="822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70924" y="1365691"/>
            <a:ext cx="3083252" cy="820673"/>
            <a:chOff x="0" y="0"/>
            <a:chExt cx="2880036" cy="7665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80036" cy="766583"/>
            </a:xfrm>
            <a:custGeom>
              <a:avLst/>
              <a:gdLst/>
              <a:ahLst/>
              <a:cxnLst/>
              <a:rect r="r" b="b" t="t" l="l"/>
              <a:pathLst>
                <a:path h="766583" w="2880036">
                  <a:moveTo>
                    <a:pt x="2755576" y="766583"/>
                  </a:moveTo>
                  <a:lnTo>
                    <a:pt x="124460" y="766583"/>
                  </a:lnTo>
                  <a:cubicBezTo>
                    <a:pt x="55880" y="766583"/>
                    <a:pt x="0" y="710703"/>
                    <a:pt x="0" y="6421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642123"/>
                  </a:lnTo>
                  <a:cubicBezTo>
                    <a:pt x="2880036" y="710703"/>
                    <a:pt x="2824156" y="766583"/>
                    <a:pt x="2755576" y="7665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70924" y="2355384"/>
            <a:ext cx="3083252" cy="1613561"/>
            <a:chOff x="0" y="0"/>
            <a:chExt cx="2880036" cy="15072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0036" cy="1507212"/>
            </a:xfrm>
            <a:custGeom>
              <a:avLst/>
              <a:gdLst/>
              <a:ahLst/>
              <a:cxnLst/>
              <a:rect r="r" b="b" t="t" l="l"/>
              <a:pathLst>
                <a:path h="1507212" w="2880036">
                  <a:moveTo>
                    <a:pt x="2755576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1382752"/>
                  </a:lnTo>
                  <a:cubicBezTo>
                    <a:pt x="2880036" y="1451332"/>
                    <a:pt x="2824156" y="1507212"/>
                    <a:pt x="275557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271904" y="1365691"/>
            <a:ext cx="4404331" cy="820673"/>
            <a:chOff x="0" y="0"/>
            <a:chExt cx="4114042" cy="7665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14042" cy="766583"/>
            </a:xfrm>
            <a:custGeom>
              <a:avLst/>
              <a:gdLst/>
              <a:ahLst/>
              <a:cxnLst/>
              <a:rect r="r" b="b" t="t" l="l"/>
              <a:pathLst>
                <a:path h="766583" w="4114042">
                  <a:moveTo>
                    <a:pt x="3989582" y="766583"/>
                  </a:moveTo>
                  <a:lnTo>
                    <a:pt x="124460" y="766583"/>
                  </a:lnTo>
                  <a:cubicBezTo>
                    <a:pt x="55880" y="766583"/>
                    <a:pt x="0" y="710703"/>
                    <a:pt x="0" y="6421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642123"/>
                  </a:lnTo>
                  <a:cubicBezTo>
                    <a:pt x="4114042" y="710703"/>
                    <a:pt x="4058162" y="766583"/>
                    <a:pt x="3989582" y="7665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271904" y="2348289"/>
            <a:ext cx="4404331" cy="1620655"/>
            <a:chOff x="0" y="0"/>
            <a:chExt cx="4114042" cy="15138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14042" cy="1513839"/>
            </a:xfrm>
            <a:custGeom>
              <a:avLst/>
              <a:gdLst/>
              <a:ahLst/>
              <a:cxnLst/>
              <a:rect r="r" b="b" t="t" l="l"/>
              <a:pathLst>
                <a:path h="1513839" w="4114042">
                  <a:moveTo>
                    <a:pt x="3989582" y="1513838"/>
                  </a:moveTo>
                  <a:lnTo>
                    <a:pt x="124460" y="1513838"/>
                  </a:lnTo>
                  <a:cubicBezTo>
                    <a:pt x="55880" y="1513838"/>
                    <a:pt x="0" y="1457958"/>
                    <a:pt x="0" y="138937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1389378"/>
                  </a:lnTo>
                  <a:cubicBezTo>
                    <a:pt x="4114042" y="1457958"/>
                    <a:pt x="4058162" y="1513839"/>
                    <a:pt x="3989582" y="15138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057516" y="485582"/>
            <a:ext cx="8370948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Bảng mức độ hoàn thành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1071" y="1623628"/>
            <a:ext cx="252508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 spc="44">
                <a:solidFill>
                  <a:srgbClr val="2288E6"/>
                </a:solidFill>
                <a:latin typeface="TT Norms Bold"/>
                <a:ea typeface="TT Norms Bold"/>
                <a:cs typeface="TT Norms Bold"/>
                <a:sym typeface="TT Norms Bold"/>
              </a:rPr>
              <a:t>STT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71710" y="1623628"/>
            <a:ext cx="25250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53">
                <a:solidFill>
                  <a:srgbClr val="2288E6"/>
                </a:solidFill>
                <a:latin typeface="TT Norms Bold"/>
                <a:ea typeface="TT Norms Bold"/>
                <a:cs typeface="TT Norms Bold"/>
                <a:sym typeface="TT Norms Bold"/>
              </a:rPr>
              <a:t>YÊU CẦU</a:t>
            </a:r>
            <a:r>
              <a:rPr lang="en-US" b="true" sz="1800" spc="53">
                <a:solidFill>
                  <a:srgbClr val="2288E6"/>
                </a:solidFill>
                <a:latin typeface="TT Norms Bold"/>
                <a:ea typeface="TT Norms Bold"/>
                <a:cs typeface="TT Norms Bold"/>
                <a:sym typeface="TT Norms Bold"/>
              </a:rPr>
              <a:t> CỐT LÕI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6988" y="2884058"/>
            <a:ext cx="40403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50009" y="1603625"/>
            <a:ext cx="25250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53">
                <a:solidFill>
                  <a:srgbClr val="2288E6"/>
                </a:solidFill>
                <a:latin typeface="TT Norms Bold"/>
                <a:ea typeface="TT Norms Bold"/>
                <a:cs typeface="TT Norms Bold"/>
                <a:sym typeface="TT Norms Bold"/>
              </a:rPr>
              <a:t>TRẠNG THÁI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06677" y="1603625"/>
            <a:ext cx="252508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53">
                <a:solidFill>
                  <a:srgbClr val="2288E6"/>
                </a:solidFill>
                <a:latin typeface="TT Norms Bold"/>
                <a:ea typeface="TT Norms Bold"/>
                <a:cs typeface="TT Norms Bold"/>
                <a:sym typeface="TT Norms Bold"/>
              </a:rPr>
              <a:t>CLASS/TÍN</a:t>
            </a:r>
            <a:r>
              <a:rPr lang="en-US" b="true" sz="1800" spc="53">
                <a:solidFill>
                  <a:srgbClr val="2288E6"/>
                </a:solidFill>
                <a:latin typeface="TT Norms Bold"/>
                <a:ea typeface="TT Norms Bold"/>
                <a:cs typeface="TT Norms Bold"/>
                <a:sym typeface="TT Norms Bold"/>
              </a:rPr>
              <a:t>H NĂNG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94234" y="2687228"/>
            <a:ext cx="5932051" cy="431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 kế kiến trúc lớp và quan hệ cơ bản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06153" y="3204713"/>
            <a:ext cx="473084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Áp dụng kế t</a:t>
            </a: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hừa, kết hợp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70924" y="3018468"/>
            <a:ext cx="308325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40594" y="2475992"/>
            <a:ext cx="4266951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Hệ thống lớp p</a:t>
            </a: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hân cấp: Farm chứa Pond, Pond chứa mảng Sensor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443612" y="4245170"/>
            <a:ext cx="6951037" cy="1613561"/>
            <a:chOff x="0" y="0"/>
            <a:chExt cx="6492895" cy="15072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92896" cy="1507212"/>
            </a:xfrm>
            <a:custGeom>
              <a:avLst/>
              <a:gdLst/>
              <a:ahLst/>
              <a:cxnLst/>
              <a:rect r="r" b="b" t="t" l="l"/>
              <a:pathLst>
                <a:path h="1507212" w="6492896">
                  <a:moveTo>
                    <a:pt x="6368435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1382752"/>
                  </a:lnTo>
                  <a:cubicBezTo>
                    <a:pt x="6492896" y="1451332"/>
                    <a:pt x="6437016" y="1507212"/>
                    <a:pt x="636843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443612" y="6134956"/>
            <a:ext cx="6951037" cy="1613561"/>
            <a:chOff x="0" y="0"/>
            <a:chExt cx="6492895" cy="15072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92896" cy="1507212"/>
            </a:xfrm>
            <a:custGeom>
              <a:avLst/>
              <a:gdLst/>
              <a:ahLst/>
              <a:cxnLst/>
              <a:rect r="r" b="b" t="t" l="l"/>
              <a:pathLst>
                <a:path h="1507212" w="6492896">
                  <a:moveTo>
                    <a:pt x="6368435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1382752"/>
                  </a:lnTo>
                  <a:cubicBezTo>
                    <a:pt x="6492896" y="1451332"/>
                    <a:pt x="6437016" y="1507212"/>
                    <a:pt x="636843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443612" y="8024742"/>
            <a:ext cx="6951037" cy="1613561"/>
            <a:chOff x="0" y="0"/>
            <a:chExt cx="6492895" cy="15072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92896" cy="1507212"/>
            </a:xfrm>
            <a:custGeom>
              <a:avLst/>
              <a:gdLst/>
              <a:ahLst/>
              <a:cxnLst/>
              <a:rect r="r" b="b" t="t" l="l"/>
              <a:pathLst>
                <a:path h="1507212" w="6492896">
                  <a:moveTo>
                    <a:pt x="6368435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1382752"/>
                  </a:lnTo>
                  <a:cubicBezTo>
                    <a:pt x="6492896" y="1451332"/>
                    <a:pt x="6437016" y="1507212"/>
                    <a:pt x="636843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72042" y="4238076"/>
            <a:ext cx="982521" cy="880254"/>
            <a:chOff x="0" y="0"/>
            <a:chExt cx="917764" cy="82223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7764" cy="822237"/>
            </a:xfrm>
            <a:custGeom>
              <a:avLst/>
              <a:gdLst/>
              <a:ahLst/>
              <a:cxnLst/>
              <a:rect r="r" b="b" t="t" l="l"/>
              <a:pathLst>
                <a:path h="822237" w="917764">
                  <a:moveTo>
                    <a:pt x="793304" y="822237"/>
                  </a:moveTo>
                  <a:lnTo>
                    <a:pt x="124460" y="822237"/>
                  </a:lnTo>
                  <a:cubicBezTo>
                    <a:pt x="55880" y="822237"/>
                    <a:pt x="0" y="766357"/>
                    <a:pt x="0" y="6977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97777"/>
                  </a:lnTo>
                  <a:cubicBezTo>
                    <a:pt x="917764" y="766357"/>
                    <a:pt x="861884" y="822237"/>
                    <a:pt x="793304" y="822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3573028" y="4359470"/>
            <a:ext cx="432244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Tính đóng gói  &amp; lớp bất biến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21670" y="4906045"/>
            <a:ext cx="642516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Bảo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vệ dữ liệu, không cho phép can thiệp trái phép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070924" y="4245170"/>
            <a:ext cx="3083252" cy="1613561"/>
            <a:chOff x="0" y="0"/>
            <a:chExt cx="2880036" cy="15072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80036" cy="1507212"/>
            </a:xfrm>
            <a:custGeom>
              <a:avLst/>
              <a:gdLst/>
              <a:ahLst/>
              <a:cxnLst/>
              <a:rect r="r" b="b" t="t" l="l"/>
              <a:pathLst>
                <a:path h="1507212" w="2880036">
                  <a:moveTo>
                    <a:pt x="2755576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1382752"/>
                  </a:lnTo>
                  <a:cubicBezTo>
                    <a:pt x="2880036" y="1451332"/>
                    <a:pt x="2824156" y="1507212"/>
                    <a:pt x="275557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271904" y="4238076"/>
            <a:ext cx="4404331" cy="1620655"/>
            <a:chOff x="0" y="0"/>
            <a:chExt cx="4114042" cy="151383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14042" cy="1513839"/>
            </a:xfrm>
            <a:custGeom>
              <a:avLst/>
              <a:gdLst/>
              <a:ahLst/>
              <a:cxnLst/>
              <a:rect r="r" b="b" t="t" l="l"/>
              <a:pathLst>
                <a:path h="1513839" w="4114042">
                  <a:moveTo>
                    <a:pt x="3989582" y="1513838"/>
                  </a:moveTo>
                  <a:lnTo>
                    <a:pt x="124460" y="1513838"/>
                  </a:lnTo>
                  <a:cubicBezTo>
                    <a:pt x="55880" y="1513838"/>
                    <a:pt x="0" y="1457958"/>
                    <a:pt x="0" y="138937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1389378"/>
                  </a:lnTo>
                  <a:cubicBezTo>
                    <a:pt x="4114042" y="1457958"/>
                    <a:pt x="4058162" y="1513839"/>
                    <a:pt x="3989582" y="15138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070924" y="6134956"/>
            <a:ext cx="3083252" cy="1613561"/>
            <a:chOff x="0" y="0"/>
            <a:chExt cx="2880036" cy="15072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880036" cy="1507212"/>
            </a:xfrm>
            <a:custGeom>
              <a:avLst/>
              <a:gdLst/>
              <a:ahLst/>
              <a:cxnLst/>
              <a:rect r="r" b="b" t="t" l="l"/>
              <a:pathLst>
                <a:path h="1507212" w="2880036">
                  <a:moveTo>
                    <a:pt x="2755576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1382752"/>
                  </a:lnTo>
                  <a:cubicBezTo>
                    <a:pt x="2880036" y="1451332"/>
                    <a:pt x="2824156" y="1507212"/>
                    <a:pt x="275557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070924" y="8024742"/>
            <a:ext cx="3083252" cy="1613561"/>
            <a:chOff x="0" y="0"/>
            <a:chExt cx="2880036" cy="15072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80036" cy="1507212"/>
            </a:xfrm>
            <a:custGeom>
              <a:avLst/>
              <a:gdLst/>
              <a:ahLst/>
              <a:cxnLst/>
              <a:rect r="r" b="b" t="t" l="l"/>
              <a:pathLst>
                <a:path h="1507212" w="2880036">
                  <a:moveTo>
                    <a:pt x="2755576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1382752"/>
                  </a:lnTo>
                  <a:cubicBezTo>
                    <a:pt x="2880036" y="1451332"/>
                    <a:pt x="2824156" y="1507212"/>
                    <a:pt x="275557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061399" y="4834781"/>
            <a:ext cx="308325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042349" y="6766781"/>
            <a:ext cx="308325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042349" y="8467406"/>
            <a:ext cx="308325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66796" y="4443253"/>
            <a:ext cx="17311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06249" y="4218513"/>
            <a:ext cx="4335641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Hàm trả về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Collections.unmodifiable List() trong Pond;lớp bất biến reading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72042" y="6167078"/>
            <a:ext cx="982521" cy="880254"/>
            <a:chOff x="0" y="0"/>
            <a:chExt cx="917764" cy="82223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7764" cy="822237"/>
            </a:xfrm>
            <a:custGeom>
              <a:avLst/>
              <a:gdLst/>
              <a:ahLst/>
              <a:cxnLst/>
              <a:rect r="r" b="b" t="t" l="l"/>
              <a:pathLst>
                <a:path h="822237" w="917764">
                  <a:moveTo>
                    <a:pt x="793304" y="822237"/>
                  </a:moveTo>
                  <a:lnTo>
                    <a:pt x="124460" y="822237"/>
                  </a:lnTo>
                  <a:cubicBezTo>
                    <a:pt x="55880" y="822237"/>
                    <a:pt x="0" y="766357"/>
                    <a:pt x="0" y="6977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97777"/>
                  </a:lnTo>
                  <a:cubicBezTo>
                    <a:pt x="917764" y="766357"/>
                    <a:pt x="861884" y="822237"/>
                    <a:pt x="793304" y="822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238221" y="6395678"/>
            <a:ext cx="1815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706153" y="6239731"/>
            <a:ext cx="391156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Tính trừu tượng &amp; đa hình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521670" y="6757256"/>
            <a:ext cx="681678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 đè phương thức, xử lý đa hình qua giao diện/lớp cha.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3271904" y="6125431"/>
            <a:ext cx="4404331" cy="1620655"/>
            <a:chOff x="0" y="0"/>
            <a:chExt cx="4114042" cy="151383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14042" cy="1513839"/>
            </a:xfrm>
            <a:custGeom>
              <a:avLst/>
              <a:gdLst/>
              <a:ahLst/>
              <a:cxnLst/>
              <a:rect r="r" b="b" t="t" l="l"/>
              <a:pathLst>
                <a:path h="1513839" w="4114042">
                  <a:moveTo>
                    <a:pt x="3989582" y="1513838"/>
                  </a:moveTo>
                  <a:lnTo>
                    <a:pt x="124460" y="1513838"/>
                  </a:lnTo>
                  <a:cubicBezTo>
                    <a:pt x="55880" y="1513838"/>
                    <a:pt x="0" y="1457958"/>
                    <a:pt x="0" y="138937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1389378"/>
                  </a:lnTo>
                  <a:cubicBezTo>
                    <a:pt x="4114042" y="1457958"/>
                    <a:pt x="4058162" y="1513839"/>
                    <a:pt x="3989582" y="15138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271904" y="8012787"/>
            <a:ext cx="4404331" cy="1620655"/>
            <a:chOff x="0" y="0"/>
            <a:chExt cx="4114042" cy="151383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14042" cy="1513839"/>
            </a:xfrm>
            <a:custGeom>
              <a:avLst/>
              <a:gdLst/>
              <a:ahLst/>
              <a:cxnLst/>
              <a:rect r="r" b="b" t="t" l="l"/>
              <a:pathLst>
                <a:path h="1513839" w="4114042">
                  <a:moveTo>
                    <a:pt x="3989582" y="1513838"/>
                  </a:moveTo>
                  <a:lnTo>
                    <a:pt x="124460" y="1513838"/>
                  </a:lnTo>
                  <a:cubicBezTo>
                    <a:pt x="55880" y="1513838"/>
                    <a:pt x="0" y="1457958"/>
                    <a:pt x="0" y="138937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1389378"/>
                  </a:lnTo>
                  <a:cubicBezTo>
                    <a:pt x="4114042" y="1457958"/>
                    <a:pt x="4058162" y="1513839"/>
                    <a:pt x="3989582" y="15138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72042" y="8015217"/>
            <a:ext cx="982521" cy="880254"/>
            <a:chOff x="0" y="0"/>
            <a:chExt cx="917764" cy="82223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7764" cy="822237"/>
            </a:xfrm>
            <a:custGeom>
              <a:avLst/>
              <a:gdLst/>
              <a:ahLst/>
              <a:cxnLst/>
              <a:rect r="r" b="b" t="t" l="l"/>
              <a:pathLst>
                <a:path h="822237" w="917764">
                  <a:moveTo>
                    <a:pt x="793304" y="822237"/>
                  </a:moveTo>
                  <a:lnTo>
                    <a:pt x="124460" y="822237"/>
                  </a:lnTo>
                  <a:cubicBezTo>
                    <a:pt x="55880" y="822237"/>
                    <a:pt x="0" y="766357"/>
                    <a:pt x="0" y="6977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97777"/>
                  </a:lnTo>
                  <a:cubicBezTo>
                    <a:pt x="917764" y="766357"/>
                    <a:pt x="861884" y="822237"/>
                    <a:pt x="793304" y="822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238221" y="8243817"/>
            <a:ext cx="1815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664190" y="8215559"/>
            <a:ext cx="199548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Xử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lý ngoại lệ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443612" y="8636950"/>
            <a:ext cx="679937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Tự định nghĩa Exception, sử dụng try-catch, ném lỗi.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340594" y="6181379"/>
            <a:ext cx="4266951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</a:t>
            </a: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 đè hàm read() sinh dữ liệu nhiễu ngẫu nhiên; Ghi đè hàm paintComponent() vẽ đồng hồ đo đồ họa.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340594" y="8117562"/>
            <a:ext cx="4266951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Lớp Invalid</a:t>
            </a: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ThresholdException; Bắt lỗi nhập liệu Min $\ge$ Max trên ThresholdDialog không làm crash app.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52003" y="-209610"/>
            <a:ext cx="18572956" cy="10725270"/>
          </a:xfrm>
          <a:custGeom>
            <a:avLst/>
            <a:gdLst/>
            <a:ahLst/>
            <a:cxnLst/>
            <a:rect r="r" b="b" t="t" l="l"/>
            <a:pathLst>
              <a:path h="10725270" w="18572956">
                <a:moveTo>
                  <a:pt x="18572956" y="0"/>
                </a:moveTo>
                <a:lnTo>
                  <a:pt x="0" y="0"/>
                </a:lnTo>
                <a:lnTo>
                  <a:pt x="0" y="10725270"/>
                </a:lnTo>
                <a:lnTo>
                  <a:pt x="18572956" y="10725270"/>
                </a:lnTo>
                <a:lnTo>
                  <a:pt x="185729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391" t="0" r="-15939" b="-3279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4774" y="495543"/>
            <a:ext cx="982521" cy="880254"/>
            <a:chOff x="0" y="0"/>
            <a:chExt cx="917764" cy="8222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7764" cy="822237"/>
            </a:xfrm>
            <a:custGeom>
              <a:avLst/>
              <a:gdLst/>
              <a:ahLst/>
              <a:cxnLst/>
              <a:rect r="r" b="b" t="t" l="l"/>
              <a:pathLst>
                <a:path h="822237" w="917764">
                  <a:moveTo>
                    <a:pt x="793304" y="822237"/>
                  </a:moveTo>
                  <a:lnTo>
                    <a:pt x="124460" y="822237"/>
                  </a:lnTo>
                  <a:cubicBezTo>
                    <a:pt x="55880" y="822237"/>
                    <a:pt x="0" y="766357"/>
                    <a:pt x="0" y="6977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97777"/>
                  </a:lnTo>
                  <a:cubicBezTo>
                    <a:pt x="917764" y="766357"/>
                    <a:pt x="861884" y="822237"/>
                    <a:pt x="793304" y="822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6931" y="6160073"/>
            <a:ext cx="982521" cy="880254"/>
            <a:chOff x="0" y="0"/>
            <a:chExt cx="917764" cy="8222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7764" cy="822237"/>
            </a:xfrm>
            <a:custGeom>
              <a:avLst/>
              <a:gdLst/>
              <a:ahLst/>
              <a:cxnLst/>
              <a:rect r="r" b="b" t="t" l="l"/>
              <a:pathLst>
                <a:path h="822237" w="917764">
                  <a:moveTo>
                    <a:pt x="793304" y="822237"/>
                  </a:moveTo>
                  <a:lnTo>
                    <a:pt x="124460" y="822237"/>
                  </a:lnTo>
                  <a:cubicBezTo>
                    <a:pt x="55880" y="822237"/>
                    <a:pt x="0" y="766357"/>
                    <a:pt x="0" y="6977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97777"/>
                  </a:lnTo>
                  <a:cubicBezTo>
                    <a:pt x="917764" y="766357"/>
                    <a:pt x="861884" y="822237"/>
                    <a:pt x="793304" y="822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120305" y="467086"/>
            <a:ext cx="4404331" cy="1637072"/>
            <a:chOff x="0" y="0"/>
            <a:chExt cx="4114042" cy="15291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14042" cy="1529173"/>
            </a:xfrm>
            <a:custGeom>
              <a:avLst/>
              <a:gdLst/>
              <a:ahLst/>
              <a:cxnLst/>
              <a:rect r="r" b="b" t="t" l="l"/>
              <a:pathLst>
                <a:path h="1529173" w="4114042">
                  <a:moveTo>
                    <a:pt x="3989582" y="1529173"/>
                  </a:moveTo>
                  <a:lnTo>
                    <a:pt x="124460" y="1529173"/>
                  </a:lnTo>
                  <a:cubicBezTo>
                    <a:pt x="55880" y="1529173"/>
                    <a:pt x="0" y="1473293"/>
                    <a:pt x="0" y="140471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1404713"/>
                  </a:lnTo>
                  <a:cubicBezTo>
                    <a:pt x="4114042" y="1473293"/>
                    <a:pt x="4058162" y="1529173"/>
                    <a:pt x="3989582" y="15291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19325" y="495543"/>
            <a:ext cx="3083252" cy="1608615"/>
            <a:chOff x="0" y="0"/>
            <a:chExt cx="2880036" cy="1502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80036" cy="1502592"/>
            </a:xfrm>
            <a:custGeom>
              <a:avLst/>
              <a:gdLst/>
              <a:ahLst/>
              <a:cxnLst/>
              <a:rect r="r" b="b" t="t" l="l"/>
              <a:pathLst>
                <a:path h="1502592" w="2880036">
                  <a:moveTo>
                    <a:pt x="2755576" y="1502592"/>
                  </a:moveTo>
                  <a:lnTo>
                    <a:pt x="124460" y="1502592"/>
                  </a:lnTo>
                  <a:cubicBezTo>
                    <a:pt x="55880" y="1502592"/>
                    <a:pt x="0" y="1446712"/>
                    <a:pt x="0" y="137813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1378132"/>
                  </a:lnTo>
                  <a:cubicBezTo>
                    <a:pt x="2880036" y="1446712"/>
                    <a:pt x="2824156" y="1502592"/>
                    <a:pt x="2755576" y="1502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70645" y="490597"/>
            <a:ext cx="6951037" cy="1613561"/>
            <a:chOff x="0" y="0"/>
            <a:chExt cx="6492895" cy="15072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92896" cy="1507212"/>
            </a:xfrm>
            <a:custGeom>
              <a:avLst/>
              <a:gdLst/>
              <a:ahLst/>
              <a:cxnLst/>
              <a:rect r="r" b="b" t="t" l="l"/>
              <a:pathLst>
                <a:path h="1507212" w="6492896">
                  <a:moveTo>
                    <a:pt x="6368435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1382752"/>
                  </a:lnTo>
                  <a:cubicBezTo>
                    <a:pt x="6492896" y="1451332"/>
                    <a:pt x="6437016" y="1507212"/>
                    <a:pt x="636843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356984" y="2380383"/>
            <a:ext cx="6951037" cy="1613561"/>
            <a:chOff x="0" y="0"/>
            <a:chExt cx="6492895" cy="15072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92896" cy="1507212"/>
            </a:xfrm>
            <a:custGeom>
              <a:avLst/>
              <a:gdLst/>
              <a:ahLst/>
              <a:cxnLst/>
              <a:rect r="r" b="b" t="t" l="l"/>
              <a:pathLst>
                <a:path h="1507212" w="6492896">
                  <a:moveTo>
                    <a:pt x="6368435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1382752"/>
                  </a:lnTo>
                  <a:cubicBezTo>
                    <a:pt x="6492896" y="1451332"/>
                    <a:pt x="6437016" y="1507212"/>
                    <a:pt x="636843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44774" y="2380383"/>
            <a:ext cx="982521" cy="880254"/>
            <a:chOff x="0" y="0"/>
            <a:chExt cx="917764" cy="8222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7764" cy="822237"/>
            </a:xfrm>
            <a:custGeom>
              <a:avLst/>
              <a:gdLst/>
              <a:ahLst/>
              <a:cxnLst/>
              <a:rect r="r" b="b" t="t" l="l"/>
              <a:pathLst>
                <a:path h="822237" w="917764">
                  <a:moveTo>
                    <a:pt x="793304" y="822237"/>
                  </a:moveTo>
                  <a:lnTo>
                    <a:pt x="124460" y="822237"/>
                  </a:lnTo>
                  <a:cubicBezTo>
                    <a:pt x="55880" y="822237"/>
                    <a:pt x="0" y="766357"/>
                    <a:pt x="0" y="6977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97777"/>
                  </a:lnTo>
                  <a:cubicBezTo>
                    <a:pt x="917764" y="766357"/>
                    <a:pt x="861884" y="822237"/>
                    <a:pt x="793304" y="822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19325" y="2380383"/>
            <a:ext cx="3083252" cy="1608615"/>
            <a:chOff x="0" y="0"/>
            <a:chExt cx="2880036" cy="1502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80036" cy="1502592"/>
            </a:xfrm>
            <a:custGeom>
              <a:avLst/>
              <a:gdLst/>
              <a:ahLst/>
              <a:cxnLst/>
              <a:rect r="r" b="b" t="t" l="l"/>
              <a:pathLst>
                <a:path h="1502592" w="2880036">
                  <a:moveTo>
                    <a:pt x="2755576" y="1502592"/>
                  </a:moveTo>
                  <a:lnTo>
                    <a:pt x="124460" y="1502592"/>
                  </a:lnTo>
                  <a:cubicBezTo>
                    <a:pt x="55880" y="1502592"/>
                    <a:pt x="0" y="1446712"/>
                    <a:pt x="0" y="137813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1378132"/>
                  </a:lnTo>
                  <a:cubicBezTo>
                    <a:pt x="2880036" y="1446712"/>
                    <a:pt x="2824156" y="1502592"/>
                    <a:pt x="2755576" y="1502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919325" y="4265223"/>
            <a:ext cx="3083252" cy="1608615"/>
            <a:chOff x="0" y="0"/>
            <a:chExt cx="2880036" cy="1502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80036" cy="1502592"/>
            </a:xfrm>
            <a:custGeom>
              <a:avLst/>
              <a:gdLst/>
              <a:ahLst/>
              <a:cxnLst/>
              <a:rect r="r" b="b" t="t" l="l"/>
              <a:pathLst>
                <a:path h="1502592" w="2880036">
                  <a:moveTo>
                    <a:pt x="2755576" y="1502592"/>
                  </a:moveTo>
                  <a:lnTo>
                    <a:pt x="124460" y="1502592"/>
                  </a:lnTo>
                  <a:cubicBezTo>
                    <a:pt x="55880" y="1502592"/>
                    <a:pt x="0" y="1446712"/>
                    <a:pt x="0" y="137813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1378132"/>
                  </a:lnTo>
                  <a:cubicBezTo>
                    <a:pt x="2880036" y="1446712"/>
                    <a:pt x="2824156" y="1502592"/>
                    <a:pt x="2755576" y="1502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19325" y="6150063"/>
            <a:ext cx="3083252" cy="1608615"/>
            <a:chOff x="0" y="0"/>
            <a:chExt cx="2880036" cy="1502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80036" cy="1502592"/>
            </a:xfrm>
            <a:custGeom>
              <a:avLst/>
              <a:gdLst/>
              <a:ahLst/>
              <a:cxnLst/>
              <a:rect r="r" b="b" t="t" l="l"/>
              <a:pathLst>
                <a:path h="1502592" w="2880036">
                  <a:moveTo>
                    <a:pt x="2755576" y="1502592"/>
                  </a:moveTo>
                  <a:lnTo>
                    <a:pt x="124460" y="1502592"/>
                  </a:lnTo>
                  <a:cubicBezTo>
                    <a:pt x="55880" y="1502592"/>
                    <a:pt x="0" y="1446712"/>
                    <a:pt x="0" y="137813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1378132"/>
                  </a:lnTo>
                  <a:cubicBezTo>
                    <a:pt x="2880036" y="1446712"/>
                    <a:pt x="2824156" y="1502592"/>
                    <a:pt x="2755576" y="1502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919325" y="8034903"/>
            <a:ext cx="3083252" cy="1608615"/>
            <a:chOff x="0" y="0"/>
            <a:chExt cx="2880036" cy="1502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80036" cy="1502592"/>
            </a:xfrm>
            <a:custGeom>
              <a:avLst/>
              <a:gdLst/>
              <a:ahLst/>
              <a:cxnLst/>
              <a:rect r="r" b="b" t="t" l="l"/>
              <a:pathLst>
                <a:path h="1502592" w="2880036">
                  <a:moveTo>
                    <a:pt x="2755576" y="1502592"/>
                  </a:moveTo>
                  <a:lnTo>
                    <a:pt x="124460" y="1502592"/>
                  </a:lnTo>
                  <a:cubicBezTo>
                    <a:pt x="55880" y="1502592"/>
                    <a:pt x="0" y="1446712"/>
                    <a:pt x="0" y="137813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55576" y="0"/>
                  </a:lnTo>
                  <a:cubicBezTo>
                    <a:pt x="2824156" y="0"/>
                    <a:pt x="2880036" y="55880"/>
                    <a:pt x="2880036" y="124460"/>
                  </a:cubicBezTo>
                  <a:lnTo>
                    <a:pt x="2880036" y="1378132"/>
                  </a:lnTo>
                  <a:cubicBezTo>
                    <a:pt x="2880036" y="1446712"/>
                    <a:pt x="2824156" y="1502592"/>
                    <a:pt x="2755576" y="1502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120305" y="2380383"/>
            <a:ext cx="4404331" cy="1637072"/>
            <a:chOff x="0" y="0"/>
            <a:chExt cx="4114042" cy="15291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14042" cy="1529173"/>
            </a:xfrm>
            <a:custGeom>
              <a:avLst/>
              <a:gdLst/>
              <a:ahLst/>
              <a:cxnLst/>
              <a:rect r="r" b="b" t="t" l="l"/>
              <a:pathLst>
                <a:path h="1529173" w="4114042">
                  <a:moveTo>
                    <a:pt x="3989582" y="1529173"/>
                  </a:moveTo>
                  <a:lnTo>
                    <a:pt x="124460" y="1529173"/>
                  </a:lnTo>
                  <a:cubicBezTo>
                    <a:pt x="55880" y="1529173"/>
                    <a:pt x="0" y="1473293"/>
                    <a:pt x="0" y="140471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1404713"/>
                  </a:lnTo>
                  <a:cubicBezTo>
                    <a:pt x="4114042" y="1473293"/>
                    <a:pt x="4058162" y="1529173"/>
                    <a:pt x="3989582" y="15291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120305" y="4265223"/>
            <a:ext cx="4404331" cy="1637072"/>
            <a:chOff x="0" y="0"/>
            <a:chExt cx="4114042" cy="15291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14042" cy="1529173"/>
            </a:xfrm>
            <a:custGeom>
              <a:avLst/>
              <a:gdLst/>
              <a:ahLst/>
              <a:cxnLst/>
              <a:rect r="r" b="b" t="t" l="l"/>
              <a:pathLst>
                <a:path h="1529173" w="4114042">
                  <a:moveTo>
                    <a:pt x="3989582" y="1529173"/>
                  </a:moveTo>
                  <a:lnTo>
                    <a:pt x="124460" y="1529173"/>
                  </a:lnTo>
                  <a:cubicBezTo>
                    <a:pt x="55880" y="1529173"/>
                    <a:pt x="0" y="1473293"/>
                    <a:pt x="0" y="140471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1404713"/>
                  </a:lnTo>
                  <a:cubicBezTo>
                    <a:pt x="4114042" y="1473293"/>
                    <a:pt x="4058162" y="1529173"/>
                    <a:pt x="3989582" y="15291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120305" y="6150063"/>
            <a:ext cx="4404331" cy="1637072"/>
            <a:chOff x="0" y="0"/>
            <a:chExt cx="4114042" cy="15291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14042" cy="1529173"/>
            </a:xfrm>
            <a:custGeom>
              <a:avLst/>
              <a:gdLst/>
              <a:ahLst/>
              <a:cxnLst/>
              <a:rect r="r" b="b" t="t" l="l"/>
              <a:pathLst>
                <a:path h="1529173" w="4114042">
                  <a:moveTo>
                    <a:pt x="3989582" y="1529173"/>
                  </a:moveTo>
                  <a:lnTo>
                    <a:pt x="124460" y="1529173"/>
                  </a:lnTo>
                  <a:cubicBezTo>
                    <a:pt x="55880" y="1529173"/>
                    <a:pt x="0" y="1473293"/>
                    <a:pt x="0" y="140471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1404713"/>
                  </a:lnTo>
                  <a:cubicBezTo>
                    <a:pt x="4114042" y="1473293"/>
                    <a:pt x="4058162" y="1529173"/>
                    <a:pt x="3989582" y="15291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120305" y="8006446"/>
            <a:ext cx="4404331" cy="1637072"/>
            <a:chOff x="0" y="0"/>
            <a:chExt cx="4114042" cy="15291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14042" cy="1529173"/>
            </a:xfrm>
            <a:custGeom>
              <a:avLst/>
              <a:gdLst/>
              <a:ahLst/>
              <a:cxnLst/>
              <a:rect r="r" b="b" t="t" l="l"/>
              <a:pathLst>
                <a:path h="1529173" w="4114042">
                  <a:moveTo>
                    <a:pt x="3989582" y="1529173"/>
                  </a:moveTo>
                  <a:lnTo>
                    <a:pt x="124460" y="1529173"/>
                  </a:lnTo>
                  <a:cubicBezTo>
                    <a:pt x="55880" y="1529173"/>
                    <a:pt x="0" y="1473293"/>
                    <a:pt x="0" y="140471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89582" y="0"/>
                  </a:lnTo>
                  <a:cubicBezTo>
                    <a:pt x="4058162" y="0"/>
                    <a:pt x="4114042" y="55880"/>
                    <a:pt x="4114042" y="124460"/>
                  </a:cubicBezTo>
                  <a:lnTo>
                    <a:pt x="4114042" y="1404713"/>
                  </a:lnTo>
                  <a:cubicBezTo>
                    <a:pt x="4114042" y="1473293"/>
                    <a:pt x="4058162" y="1529173"/>
                    <a:pt x="3989582" y="15291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356984" y="4265223"/>
            <a:ext cx="6951037" cy="1613561"/>
            <a:chOff x="0" y="0"/>
            <a:chExt cx="6492895" cy="15072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92896" cy="1507212"/>
            </a:xfrm>
            <a:custGeom>
              <a:avLst/>
              <a:gdLst/>
              <a:ahLst/>
              <a:cxnLst/>
              <a:rect r="r" b="b" t="t" l="l"/>
              <a:pathLst>
                <a:path h="1507212" w="6492896">
                  <a:moveTo>
                    <a:pt x="6368435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1382752"/>
                  </a:lnTo>
                  <a:cubicBezTo>
                    <a:pt x="6492896" y="1451332"/>
                    <a:pt x="6437016" y="1507212"/>
                    <a:pt x="636843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44774" y="4270169"/>
            <a:ext cx="982521" cy="880254"/>
            <a:chOff x="0" y="0"/>
            <a:chExt cx="917764" cy="82223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7764" cy="822237"/>
            </a:xfrm>
            <a:custGeom>
              <a:avLst/>
              <a:gdLst/>
              <a:ahLst/>
              <a:cxnLst/>
              <a:rect r="r" b="b" t="t" l="l"/>
              <a:pathLst>
                <a:path h="822237" w="917764">
                  <a:moveTo>
                    <a:pt x="793304" y="822237"/>
                  </a:moveTo>
                  <a:lnTo>
                    <a:pt x="124460" y="822237"/>
                  </a:lnTo>
                  <a:cubicBezTo>
                    <a:pt x="55880" y="822237"/>
                    <a:pt x="0" y="766357"/>
                    <a:pt x="0" y="6977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97777"/>
                  </a:lnTo>
                  <a:cubicBezTo>
                    <a:pt x="917764" y="766357"/>
                    <a:pt x="861884" y="822237"/>
                    <a:pt x="793304" y="822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356984" y="6150063"/>
            <a:ext cx="6951037" cy="1613561"/>
            <a:chOff x="0" y="0"/>
            <a:chExt cx="6492895" cy="15072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92896" cy="1507212"/>
            </a:xfrm>
            <a:custGeom>
              <a:avLst/>
              <a:gdLst/>
              <a:ahLst/>
              <a:cxnLst/>
              <a:rect r="r" b="b" t="t" l="l"/>
              <a:pathLst>
                <a:path h="1507212" w="6492896">
                  <a:moveTo>
                    <a:pt x="6368435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1382752"/>
                  </a:lnTo>
                  <a:cubicBezTo>
                    <a:pt x="6492896" y="1451332"/>
                    <a:pt x="6437016" y="1507212"/>
                    <a:pt x="636843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356984" y="8034903"/>
            <a:ext cx="6951037" cy="1613561"/>
            <a:chOff x="0" y="0"/>
            <a:chExt cx="6492895" cy="15072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92896" cy="1507212"/>
            </a:xfrm>
            <a:custGeom>
              <a:avLst/>
              <a:gdLst/>
              <a:ahLst/>
              <a:cxnLst/>
              <a:rect r="r" b="b" t="t" l="l"/>
              <a:pathLst>
                <a:path h="1507212" w="6492896">
                  <a:moveTo>
                    <a:pt x="6368435" y="1507211"/>
                  </a:moveTo>
                  <a:lnTo>
                    <a:pt x="124460" y="1507211"/>
                  </a:lnTo>
                  <a:cubicBezTo>
                    <a:pt x="55880" y="1507211"/>
                    <a:pt x="0" y="1451332"/>
                    <a:pt x="0" y="138275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68436" y="0"/>
                  </a:lnTo>
                  <a:cubicBezTo>
                    <a:pt x="6437016" y="0"/>
                    <a:pt x="6492896" y="55880"/>
                    <a:pt x="6492896" y="124460"/>
                  </a:cubicBezTo>
                  <a:lnTo>
                    <a:pt x="6492896" y="1382752"/>
                  </a:lnTo>
                  <a:cubicBezTo>
                    <a:pt x="6492896" y="1451332"/>
                    <a:pt x="6437016" y="1507212"/>
                    <a:pt x="6368436" y="1507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44774" y="8034903"/>
            <a:ext cx="982521" cy="880254"/>
            <a:chOff x="0" y="0"/>
            <a:chExt cx="917764" cy="82223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7764" cy="822237"/>
            </a:xfrm>
            <a:custGeom>
              <a:avLst/>
              <a:gdLst/>
              <a:ahLst/>
              <a:cxnLst/>
              <a:rect r="r" b="b" t="t" l="l"/>
              <a:pathLst>
                <a:path h="822237" w="917764">
                  <a:moveTo>
                    <a:pt x="793304" y="822237"/>
                  </a:moveTo>
                  <a:lnTo>
                    <a:pt x="124460" y="822237"/>
                  </a:lnTo>
                  <a:cubicBezTo>
                    <a:pt x="55880" y="822237"/>
                    <a:pt x="0" y="766357"/>
                    <a:pt x="0" y="69777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93304" y="0"/>
                  </a:lnTo>
                  <a:cubicBezTo>
                    <a:pt x="861884" y="0"/>
                    <a:pt x="917764" y="55880"/>
                    <a:pt x="917764" y="124460"/>
                  </a:cubicBezTo>
                  <a:lnTo>
                    <a:pt x="917764" y="697777"/>
                  </a:lnTo>
                  <a:cubicBezTo>
                    <a:pt x="917764" y="766357"/>
                    <a:pt x="861884" y="822237"/>
                    <a:pt x="793304" y="8222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967608" y="8221368"/>
            <a:ext cx="536852" cy="507326"/>
          </a:xfrm>
          <a:custGeom>
            <a:avLst/>
            <a:gdLst/>
            <a:ahLst/>
            <a:cxnLst/>
            <a:rect r="r" b="b" t="t" l="l"/>
            <a:pathLst>
              <a:path h="507326" w="536852">
                <a:moveTo>
                  <a:pt x="0" y="0"/>
                </a:moveTo>
                <a:lnTo>
                  <a:pt x="536853" y="0"/>
                </a:lnTo>
                <a:lnTo>
                  <a:pt x="536853" y="507325"/>
                </a:lnTo>
                <a:lnTo>
                  <a:pt x="0" y="50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086621" y="724143"/>
            <a:ext cx="1815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8779" y="6388673"/>
            <a:ext cx="1815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19325" y="1158627"/>
            <a:ext cx="308325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768973" y="675810"/>
            <a:ext cx="324897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iao diện người dùng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735568" y="1328172"/>
            <a:ext cx="61938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Cửa sổ c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hính, Bảng điều khiển, Nhập liệu.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10953" y="2608983"/>
            <a:ext cx="1815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181995" y="2574878"/>
            <a:ext cx="442293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Cấu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trúc Dữ liệu &amp; Collections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466458" y="2949529"/>
            <a:ext cx="655941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Ứ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 dụng List, Set, Map để quản lý dữ liệu tối ưu.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10953" y="4498769"/>
            <a:ext cx="1815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768973" y="4554629"/>
            <a:ext cx="324921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Xử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lý Luồng &amp; Sự kiện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472499" y="5102798"/>
            <a:ext cx="672000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Giao tiếp li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ên luồng, chạy ngầm không đơ UI.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19325" y="3007314"/>
            <a:ext cx="308325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19325" y="4856002"/>
            <a:ext cx="308325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919325" y="6704689"/>
            <a:ext cx="308325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919325" y="8553376"/>
            <a:ext cx="3083252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957779" y="6320514"/>
            <a:ext cx="576322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Đọc/Ghi File &amp; 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Tích hợp Thư viện ngoài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950892" y="6763323"/>
            <a:ext cx="576322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Lưu</a:t>
            </a:r>
            <a:r>
              <a:rPr lang="en-US" sz="24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cấu hình vào I/O File, vẽ biểu đồ JFreeChart.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120305" y="807154"/>
            <a:ext cx="440433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</a:t>
            </a: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hung MainWindow; GaugePanel vẽ tay bằng Graphics2D có khử răng cưa và đổi màu Xanh/Đỏ.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252036" y="2470104"/>
            <a:ext cx="4140868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Dùng</a:t>
            </a: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LinkedList cho LogTableModel lưu đúng 200 dòng (thêm đầu, xóa cuối O(1)); Dùng Map lưu trữ TimeSeries.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192712" y="4329379"/>
            <a:ext cx="4200193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Áp</a:t>
            </a: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dụng Observer Pattern (SensorHub); Chạy bộ máy SimulationEngine ngầm bằng javax.swing.Timer.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65870" y="6264245"/>
            <a:ext cx="4253876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Đọc/g</a:t>
            </a: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 cấu hình 4 ngưỡng vào file app.properties; Tích hợp thư viện JFreeChart 1.5.x vẽ 2 loại biểu đồ.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071133" y="8211299"/>
            <a:ext cx="335006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TÍNH NĂNG NÂNG CAO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967304" y="8664689"/>
            <a:ext cx="576322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 bị chấp hành tự động điều khiển theo dữ liệu.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252036" y="8127428"/>
            <a:ext cx="4096801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Interface Controllable; </a:t>
            </a:r>
            <a:r>
              <a:rPr lang="en-US" sz="21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 bị máy sục khí Aerator tự động bật/tắt khi hàm lượng Oxy (DO) xuống dưới 4.0.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1206" y="861245"/>
            <a:ext cx="8062449" cy="1147043"/>
            <a:chOff x="0" y="0"/>
            <a:chExt cx="20448700" cy="2909231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12700" y="12700"/>
              <a:ext cx="20423428" cy="2883831"/>
            </a:xfrm>
            <a:custGeom>
              <a:avLst/>
              <a:gdLst/>
              <a:ahLst/>
              <a:cxnLst/>
              <a:rect r="r" b="b" t="t" l="l"/>
              <a:pathLst>
                <a:path h="2883831" w="20423428">
                  <a:moveTo>
                    <a:pt x="20423428" y="0"/>
                  </a:moveTo>
                  <a:lnTo>
                    <a:pt x="20423428" y="2883831"/>
                  </a:lnTo>
                  <a:lnTo>
                    <a:pt x="0" y="2883831"/>
                  </a:lnTo>
                  <a:lnTo>
                    <a:pt x="0" y="885063"/>
                  </a:lnTo>
                  <a:cubicBezTo>
                    <a:pt x="473837" y="807085"/>
                    <a:pt x="855726" y="456692"/>
                    <a:pt x="979678" y="0"/>
                  </a:cubicBezTo>
                  <a:lnTo>
                    <a:pt x="20423428" y="0"/>
                  </a:lnTo>
                  <a:close/>
                </a:path>
              </a:pathLst>
            </a:custGeom>
            <a:solidFill>
              <a:srgbClr val="B9BBDD"/>
            </a:solidFill>
          </p:spPr>
        </p:sp>
        <p:sp>
          <p:nvSpPr>
            <p:cNvPr name="Freeform 5" id="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0448828" cy="2909231"/>
            </a:xfrm>
            <a:custGeom>
              <a:avLst/>
              <a:gdLst/>
              <a:ahLst/>
              <a:cxnLst/>
              <a:rect r="r" b="b" t="t" l="l"/>
              <a:pathLst>
                <a:path h="2909231" w="20448828">
                  <a:moveTo>
                    <a:pt x="20448701" y="2909231"/>
                  </a:moveTo>
                  <a:lnTo>
                    <a:pt x="0" y="2909231"/>
                  </a:lnTo>
                  <a:lnTo>
                    <a:pt x="0" y="887095"/>
                  </a:lnTo>
                  <a:lnTo>
                    <a:pt x="10668" y="885317"/>
                  </a:lnTo>
                  <a:cubicBezTo>
                    <a:pt x="475996" y="808609"/>
                    <a:pt x="856488" y="464820"/>
                    <a:pt x="980186" y="9398"/>
                  </a:cubicBezTo>
                  <a:lnTo>
                    <a:pt x="982726" y="0"/>
                  </a:lnTo>
                  <a:lnTo>
                    <a:pt x="20448828" y="0"/>
                  </a:lnTo>
                  <a:lnTo>
                    <a:pt x="20448828" y="2909231"/>
                  </a:lnTo>
                  <a:close/>
                  <a:moveTo>
                    <a:pt x="25400" y="2883831"/>
                  </a:moveTo>
                  <a:lnTo>
                    <a:pt x="20423301" y="2883831"/>
                  </a:lnTo>
                  <a:lnTo>
                    <a:pt x="20423301" y="25400"/>
                  </a:lnTo>
                  <a:lnTo>
                    <a:pt x="1002157" y="25400"/>
                  </a:lnTo>
                  <a:cubicBezTo>
                    <a:pt x="874141" y="482219"/>
                    <a:pt x="492506" y="827405"/>
                    <a:pt x="25400" y="908558"/>
                  </a:cubicBezTo>
                  <a:lnTo>
                    <a:pt x="25400" y="288383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95250" y="1170946"/>
            <a:ext cx="6912367" cy="51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sz="2707" b="true">
                <a:solidFill>
                  <a:srgbClr val="1E325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MỞ RỘNG TỪ MÔ PHỎNG ĐẾN TRIỂN KHAI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915732" y="2436258"/>
            <a:ext cx="12313844" cy="1628819"/>
            <a:chOff x="0" y="0"/>
            <a:chExt cx="22330428" cy="2953766"/>
          </a:xfrm>
        </p:grpSpPr>
        <p:sp>
          <p:nvSpPr>
            <p:cNvPr name="Freeform 8" id="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12700" y="12700"/>
              <a:ext cx="22305028" cy="2908427"/>
            </a:xfrm>
            <a:custGeom>
              <a:avLst/>
              <a:gdLst/>
              <a:ahLst/>
              <a:cxnLst/>
              <a:rect r="r" b="b" t="t" l="l"/>
              <a:pathLst>
                <a:path h="2908427" w="22305028">
                  <a:moveTo>
                    <a:pt x="22305028" y="2387092"/>
                  </a:moveTo>
                  <a:lnTo>
                    <a:pt x="21712954" y="2387092"/>
                  </a:lnTo>
                  <a:lnTo>
                    <a:pt x="21953491" y="2908427"/>
                  </a:lnTo>
                  <a:lnTo>
                    <a:pt x="21102338" y="2387092"/>
                  </a:lnTo>
                  <a:lnTo>
                    <a:pt x="0" y="2387092"/>
                  </a:lnTo>
                  <a:lnTo>
                    <a:pt x="0" y="0"/>
                  </a:lnTo>
                  <a:lnTo>
                    <a:pt x="22305028" y="0"/>
                  </a:lnTo>
                  <a:lnTo>
                    <a:pt x="22305028" y="2387092"/>
                  </a:lnTo>
                  <a:close/>
                </a:path>
              </a:pathLst>
            </a:custGeom>
            <a:solidFill>
              <a:srgbClr val="D6DFCC"/>
            </a:solidFill>
          </p:spPr>
        </p:sp>
        <p:sp>
          <p:nvSpPr>
            <p:cNvPr name="Freeform 9" id="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2330428" cy="2953766"/>
            </a:xfrm>
            <a:custGeom>
              <a:avLst/>
              <a:gdLst/>
              <a:ahLst/>
              <a:cxnLst/>
              <a:rect r="r" b="b" t="t" l="l"/>
              <a:pathLst>
                <a:path h="2953766" w="22330428">
                  <a:moveTo>
                    <a:pt x="21995274" y="2953766"/>
                  </a:moveTo>
                  <a:lnTo>
                    <a:pt x="21111482" y="2412492"/>
                  </a:lnTo>
                  <a:lnTo>
                    <a:pt x="0" y="2412492"/>
                  </a:lnTo>
                  <a:lnTo>
                    <a:pt x="0" y="0"/>
                  </a:lnTo>
                  <a:lnTo>
                    <a:pt x="22330428" y="0"/>
                  </a:lnTo>
                  <a:lnTo>
                    <a:pt x="22330428" y="2412492"/>
                  </a:lnTo>
                  <a:lnTo>
                    <a:pt x="21745466" y="2412492"/>
                  </a:lnTo>
                  <a:lnTo>
                    <a:pt x="21995274" y="2953766"/>
                  </a:lnTo>
                  <a:close/>
                  <a:moveTo>
                    <a:pt x="25400" y="2387092"/>
                  </a:moveTo>
                  <a:lnTo>
                    <a:pt x="21118593" y="2387092"/>
                  </a:lnTo>
                  <a:lnTo>
                    <a:pt x="21121641" y="2388997"/>
                  </a:lnTo>
                  <a:lnTo>
                    <a:pt x="21937109" y="2888488"/>
                  </a:lnTo>
                  <a:lnTo>
                    <a:pt x="21705841" y="2387219"/>
                  </a:lnTo>
                  <a:lnTo>
                    <a:pt x="22305155" y="2387219"/>
                  </a:lnTo>
                  <a:lnTo>
                    <a:pt x="22305155" y="25400"/>
                  </a:lnTo>
                  <a:lnTo>
                    <a:pt x="25400" y="25400"/>
                  </a:lnTo>
                  <a:lnTo>
                    <a:pt x="25400" y="238709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462622" y="2747706"/>
            <a:ext cx="11325185" cy="50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b="true" sz="2707" spc="-54">
                <a:solidFill>
                  <a:srgbClr val="1E3250"/>
                </a:solidFill>
                <a:latin typeface="DM Sans Bold"/>
                <a:ea typeface="DM Sans Bold"/>
                <a:cs typeface="DM Sans Bold"/>
                <a:sym typeface="DM Sans Bold"/>
              </a:rPr>
              <a:t>Định hướng phát triển tiếp theo từ mô phỏng sang ứng dụng thực tế.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8997026"/>
            <a:ext cx="18288000" cy="1289974"/>
          </a:xfrm>
          <a:custGeom>
            <a:avLst/>
            <a:gdLst/>
            <a:ahLst/>
            <a:cxnLst/>
            <a:rect r="r" b="b" t="t" l="l"/>
            <a:pathLst>
              <a:path h="1289974" w="18288000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52405" y="9389705"/>
            <a:ext cx="10294759" cy="430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b="true" sz="2351" spc="-47">
                <a:solidFill>
                  <a:srgbClr val="F4F4F4"/>
                </a:solidFill>
                <a:latin typeface="DM Sans Bold"/>
                <a:ea typeface="DM Sans Bold"/>
                <a:cs typeface="DM Sans Bold"/>
                <a:sym typeface="DM Sans Bold"/>
              </a:rPr>
              <a:t>Định hướng đề xuất: cần tích hợp, kiểm thử và đánh giá trước triển khai.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4493047"/>
            <a:ext cx="3718852" cy="4514911"/>
          </a:xfrm>
          <a:custGeom>
            <a:avLst/>
            <a:gdLst/>
            <a:ahLst/>
            <a:cxnLst/>
            <a:rect r="r" b="b" t="t" l="l"/>
            <a:pathLst>
              <a:path h="4514911" w="3718852">
                <a:moveTo>
                  <a:pt x="0" y="0"/>
                </a:moveTo>
                <a:lnTo>
                  <a:pt x="3718852" y="0"/>
                </a:lnTo>
                <a:lnTo>
                  <a:pt x="3718852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6574" y="4493047"/>
            <a:ext cx="1323474" cy="2153601"/>
          </a:xfrm>
          <a:custGeom>
            <a:avLst/>
            <a:gdLst/>
            <a:ahLst/>
            <a:cxnLst/>
            <a:rect r="r" b="b" t="t" l="l"/>
            <a:pathLst>
              <a:path h="2153601" w="1323474">
                <a:moveTo>
                  <a:pt x="0" y="0"/>
                </a:moveTo>
                <a:lnTo>
                  <a:pt x="1323474" y="0"/>
                </a:lnTo>
                <a:lnTo>
                  <a:pt x="132347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1206" y="5017721"/>
            <a:ext cx="521088" cy="83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9"/>
              </a:lnSpc>
            </a:pPr>
            <a:r>
              <a:rPr lang="en-US" b="true" sz="4394">
                <a:solidFill>
                  <a:srgbClr val="F4F4F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4114" y="5079648"/>
            <a:ext cx="1433116" cy="81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7"/>
              </a:lnSpc>
              <a:spcBef>
                <a:spcPct val="0"/>
              </a:spcBef>
            </a:pPr>
            <a:r>
              <a:rPr lang="en-US" b="true" sz="2575" strike="noStrike" u="none">
                <a:solidFill>
                  <a:srgbClr val="1E325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LƯU TRỮ</a:t>
            </a:r>
          </a:p>
          <a:p>
            <a:pPr algn="l" marL="0" indent="0" lvl="0">
              <a:lnSpc>
                <a:spcPts val="3347"/>
              </a:lnSpc>
              <a:spcBef>
                <a:spcPct val="0"/>
              </a:spcBef>
            </a:pPr>
            <a:r>
              <a:rPr lang="en-US" b="true" sz="2575" strike="noStrike" u="none">
                <a:solidFill>
                  <a:srgbClr val="1E325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DÀI HẠN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1482" y="6356608"/>
            <a:ext cx="2402588" cy="154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MySQL/PostgreSQL</a:t>
            </a:r>
          </a:p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lưu lịch sử,</a:t>
            </a:r>
          </a:p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truy xuất và</a:t>
            </a:r>
          </a:p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báo cáo tháng quý.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915732" y="5783021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998574" y="4493047"/>
            <a:ext cx="3718852" cy="4514911"/>
          </a:xfrm>
          <a:custGeom>
            <a:avLst/>
            <a:gdLst/>
            <a:ahLst/>
            <a:cxnLst/>
            <a:rect r="r" b="b" t="t" l="l"/>
            <a:pathLst>
              <a:path h="4514911" w="3718852">
                <a:moveTo>
                  <a:pt x="0" y="0"/>
                </a:moveTo>
                <a:lnTo>
                  <a:pt x="3718852" y="0"/>
                </a:lnTo>
                <a:lnTo>
                  <a:pt x="3718852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779818" y="4493047"/>
            <a:ext cx="1542230" cy="2153601"/>
          </a:xfrm>
          <a:custGeom>
            <a:avLst/>
            <a:gdLst/>
            <a:ahLst/>
            <a:cxnLst/>
            <a:rect r="r" b="b" t="t" l="l"/>
            <a:pathLst>
              <a:path h="2153601" w="1542230">
                <a:moveTo>
                  <a:pt x="0" y="0"/>
                </a:moveTo>
                <a:lnTo>
                  <a:pt x="1542230" y="0"/>
                </a:lnTo>
                <a:lnTo>
                  <a:pt x="154223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239326" y="5017721"/>
            <a:ext cx="645238" cy="83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9"/>
              </a:lnSpc>
            </a:pPr>
            <a:r>
              <a:rPr lang="en-US" b="true" sz="4394">
                <a:solidFill>
                  <a:srgbClr val="F4F4F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54249" y="5079648"/>
            <a:ext cx="1439172" cy="81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true">
                <a:solidFill>
                  <a:srgbClr val="1E325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KẾT NỐI</a:t>
            </a:r>
          </a:p>
          <a:p>
            <a:pPr algn="l">
              <a:lnSpc>
                <a:spcPts val="3347"/>
              </a:lnSpc>
            </a:pPr>
            <a:r>
              <a:rPr lang="en-US" sz="2575" b="true">
                <a:solidFill>
                  <a:srgbClr val="1E325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IOT THẬT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98907" y="6356608"/>
            <a:ext cx="2679613" cy="154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177"/>
              </a:lnSpc>
              <a:spcBef>
                <a:spcPct val="0"/>
              </a:spcBef>
            </a:pPr>
            <a:r>
              <a:rPr lang="en-US" b="true" sz="1986" spc="-39" strike="noStrike" u="none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Cảm biến qua</a:t>
            </a:r>
          </a:p>
          <a:p>
            <a:pPr algn="l" marL="0" indent="0" lvl="1">
              <a:lnSpc>
                <a:spcPts val="3177"/>
              </a:lnSpc>
              <a:spcBef>
                <a:spcPct val="0"/>
              </a:spcBef>
            </a:pPr>
            <a:r>
              <a:rPr lang="en-US" b="true" sz="1986" spc="-39" strike="noStrike" u="none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Arduino/Raspberry Pi;</a:t>
            </a:r>
          </a:p>
          <a:p>
            <a:pPr algn="l" marL="0" indent="0" lvl="1">
              <a:lnSpc>
                <a:spcPts val="3177"/>
              </a:lnSpc>
              <a:spcBef>
                <a:spcPct val="0"/>
              </a:spcBef>
            </a:pPr>
            <a:r>
              <a:rPr lang="en-US" b="true" sz="1986" spc="-39" strike="noStrike" u="none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truyền dữ liệu bằng</a:t>
            </a:r>
          </a:p>
          <a:p>
            <a:pPr algn="l" marL="0" indent="0" lvl="1">
              <a:lnSpc>
                <a:spcPts val="3177"/>
              </a:lnSpc>
              <a:spcBef>
                <a:spcPct val="0"/>
              </a:spcBef>
            </a:pPr>
            <a:r>
              <a:rPr lang="en-US" b="true" sz="1986" spc="-39" strike="noStrike" u="none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MQTT hoặc HTTP API.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487732" y="5783021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570574" y="4493047"/>
            <a:ext cx="3718852" cy="4514911"/>
          </a:xfrm>
          <a:custGeom>
            <a:avLst/>
            <a:gdLst/>
            <a:ahLst/>
            <a:cxnLst/>
            <a:rect r="r" b="b" t="t" l="l"/>
            <a:pathLst>
              <a:path h="4514911" w="3718852">
                <a:moveTo>
                  <a:pt x="0" y="0"/>
                </a:moveTo>
                <a:lnTo>
                  <a:pt x="3718852" y="0"/>
                </a:lnTo>
                <a:lnTo>
                  <a:pt x="3718852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351818" y="4493047"/>
            <a:ext cx="1323474" cy="2153601"/>
          </a:xfrm>
          <a:custGeom>
            <a:avLst/>
            <a:gdLst/>
            <a:ahLst/>
            <a:cxnLst/>
            <a:rect r="r" b="b" t="t" l="l"/>
            <a:pathLst>
              <a:path h="2153601" w="1323474">
                <a:moveTo>
                  <a:pt x="0" y="0"/>
                </a:moveTo>
                <a:lnTo>
                  <a:pt x="1323474" y="0"/>
                </a:lnTo>
                <a:lnTo>
                  <a:pt x="132347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653257" y="5017721"/>
            <a:ext cx="657767" cy="83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9"/>
              </a:lnSpc>
            </a:pPr>
            <a:r>
              <a:rPr lang="en-US" b="true" sz="4394">
                <a:solidFill>
                  <a:srgbClr val="F4F4F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15965" y="5079648"/>
            <a:ext cx="1929325" cy="122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7"/>
              </a:lnSpc>
              <a:spcBef>
                <a:spcPct val="0"/>
              </a:spcBef>
            </a:pPr>
            <a:r>
              <a:rPr lang="en-US" b="true" sz="2575" strike="noStrike" u="none">
                <a:solidFill>
                  <a:srgbClr val="1E325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GIÁM SÁT</a:t>
            </a:r>
          </a:p>
          <a:p>
            <a:pPr algn="l" marL="0" indent="0" lvl="0">
              <a:lnSpc>
                <a:spcPts val="3347"/>
              </a:lnSpc>
              <a:spcBef>
                <a:spcPct val="0"/>
              </a:spcBef>
            </a:pPr>
            <a:r>
              <a:rPr lang="en-US" b="true" sz="2575" strike="noStrike" u="none">
                <a:solidFill>
                  <a:srgbClr val="1E325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WEB/MOBILE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89074" y="6356608"/>
            <a:ext cx="3003538" cy="154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Kiến trúc client-server,</a:t>
            </a:r>
          </a:p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Java làm Local Gateway;</a:t>
            </a:r>
          </a:p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Cloud và</a:t>
            </a:r>
          </a:p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cảnh báo Push/SMS.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840976" y="5783021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923818" y="4493047"/>
            <a:ext cx="3718852" cy="4514911"/>
          </a:xfrm>
          <a:custGeom>
            <a:avLst/>
            <a:gdLst/>
            <a:ahLst/>
            <a:cxnLst/>
            <a:rect r="r" b="b" t="t" l="l"/>
            <a:pathLst>
              <a:path h="4514911" w="3718852">
                <a:moveTo>
                  <a:pt x="0" y="0"/>
                </a:moveTo>
                <a:lnTo>
                  <a:pt x="3718852" y="0"/>
                </a:lnTo>
                <a:lnTo>
                  <a:pt x="3718852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716000" y="4493047"/>
            <a:ext cx="1312536" cy="2153601"/>
          </a:xfrm>
          <a:custGeom>
            <a:avLst/>
            <a:gdLst/>
            <a:ahLst/>
            <a:cxnLst/>
            <a:rect r="r" b="b" t="t" l="l"/>
            <a:pathLst>
              <a:path h="2153601" w="1312536">
                <a:moveTo>
                  <a:pt x="0" y="0"/>
                </a:moveTo>
                <a:lnTo>
                  <a:pt x="1312536" y="0"/>
                </a:lnTo>
                <a:lnTo>
                  <a:pt x="131253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001365" y="5017721"/>
            <a:ext cx="694784" cy="83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9"/>
              </a:lnSpc>
            </a:pPr>
            <a:r>
              <a:rPr lang="en-US" b="true" sz="4394">
                <a:solidFill>
                  <a:srgbClr val="F4F4F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983786" y="5079648"/>
            <a:ext cx="1808889" cy="81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true">
                <a:solidFill>
                  <a:srgbClr val="1E325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DỰ BÁO</a:t>
            </a:r>
          </a:p>
          <a:p>
            <a:pPr algn="l">
              <a:lnSpc>
                <a:spcPts val="3347"/>
              </a:lnSpc>
            </a:pPr>
            <a:r>
              <a:rPr lang="en-US" sz="2575" b="true">
                <a:solidFill>
                  <a:srgbClr val="1E325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CHỦ ĐỘNG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63657" y="6356608"/>
            <a:ext cx="2922617" cy="154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Thử nghiệm ARIMA</a:t>
            </a:r>
          </a:p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hoặc LSTM để dự báo</a:t>
            </a:r>
          </a:p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chất lượng nước, hỗ trợ</a:t>
            </a:r>
          </a:p>
          <a:p>
            <a:pPr algn="l">
              <a:lnSpc>
                <a:spcPts val="3177"/>
              </a:lnSpc>
            </a:pPr>
            <a:r>
              <a:rPr lang="en-US" b="true" sz="1986" spc="-39">
                <a:solidFill>
                  <a:srgbClr val="4D4D4D"/>
                </a:solidFill>
                <a:latin typeface="DM Sans Bold"/>
                <a:ea typeface="DM Sans Bold"/>
                <a:cs typeface="DM Sans Bold"/>
                <a:sym typeface="DM Sans Bold"/>
              </a:rPr>
              <a:t>kích hoạt sục khí sớm.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28440" y="0"/>
            <a:ext cx="6759560" cy="9007957"/>
          </a:xfrm>
          <a:custGeom>
            <a:avLst/>
            <a:gdLst/>
            <a:ahLst/>
            <a:cxnLst/>
            <a:rect r="r" b="b" t="t" l="l"/>
            <a:pathLst>
              <a:path h="9007957" w="6759560">
                <a:moveTo>
                  <a:pt x="0" y="0"/>
                </a:moveTo>
                <a:lnTo>
                  <a:pt x="6759560" y="0"/>
                </a:lnTo>
                <a:lnTo>
                  <a:pt x="6759560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84708" y="9204733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9558" y="-503645"/>
            <a:ext cx="4111335" cy="2672368"/>
          </a:xfrm>
          <a:custGeom>
            <a:avLst/>
            <a:gdLst/>
            <a:ahLst/>
            <a:cxnLst/>
            <a:rect r="r" b="b" t="t" l="l"/>
            <a:pathLst>
              <a:path h="2672368" w="4111335">
                <a:moveTo>
                  <a:pt x="0" y="0"/>
                </a:moveTo>
                <a:lnTo>
                  <a:pt x="4111336" y="0"/>
                </a:lnTo>
                <a:lnTo>
                  <a:pt x="4111336" y="2672368"/>
                </a:lnTo>
                <a:lnTo>
                  <a:pt x="0" y="2672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61387" y="1085850"/>
            <a:ext cx="2833404" cy="48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7"/>
              </a:lnSpc>
            </a:pPr>
            <a:r>
              <a:rPr lang="en-US" b="true" sz="3537" spc="-34">
                <a:solidFill>
                  <a:srgbClr val="FFFFFF"/>
                </a:solidFill>
                <a:latin typeface="Nomina Bold"/>
                <a:ea typeface="Nomina Bold"/>
                <a:cs typeface="Nomina Bold"/>
                <a:sym typeface="Nomina Bold"/>
              </a:rPr>
              <a:t>KẾT LUẬN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133" y="3045023"/>
            <a:ext cx="7768768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25">
                <a:solidFill>
                  <a:srgbClr val="233B58"/>
                </a:solidFill>
                <a:latin typeface="DM Sans"/>
                <a:ea typeface="DM Sans"/>
                <a:cs typeface="DM Sans"/>
                <a:sym typeface="DM Sans"/>
              </a:rPr>
              <a:t>Nền tảng cho hệ thống giám sát ao nuôi tôm IoT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01598" y="3640352"/>
            <a:ext cx="5239206" cy="2579949"/>
          </a:xfrm>
          <a:custGeom>
            <a:avLst/>
            <a:gdLst/>
            <a:ahLst/>
            <a:cxnLst/>
            <a:rect r="r" b="b" t="t" l="l"/>
            <a:pathLst>
              <a:path h="2579949" w="5239206">
                <a:moveTo>
                  <a:pt x="0" y="0"/>
                </a:moveTo>
                <a:lnTo>
                  <a:pt x="5239206" y="0"/>
                </a:lnTo>
                <a:lnTo>
                  <a:pt x="523920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1598" y="3848060"/>
            <a:ext cx="1312536" cy="2153601"/>
          </a:xfrm>
          <a:custGeom>
            <a:avLst/>
            <a:gdLst/>
            <a:ahLst/>
            <a:cxnLst/>
            <a:rect r="r" b="b" t="t" l="l"/>
            <a:pathLst>
              <a:path h="2153601" w="1312536">
                <a:moveTo>
                  <a:pt x="0" y="0"/>
                </a:moveTo>
                <a:lnTo>
                  <a:pt x="1312536" y="0"/>
                </a:lnTo>
                <a:lnTo>
                  <a:pt x="131253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1126" y="4652412"/>
            <a:ext cx="585031" cy="6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b="true" sz="5000" spc="-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81840" y="4604016"/>
            <a:ext cx="3101137" cy="104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6"/>
              </a:lnSpc>
              <a:spcBef>
                <a:spcPct val="0"/>
              </a:spcBef>
            </a:pPr>
            <a:r>
              <a:rPr lang="en-US" sz="1810" spc="-72" strike="noStrike" u="non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Trừu tượng, đóng gói,</a:t>
            </a:r>
          </a:p>
          <a:p>
            <a:pPr algn="l" marL="0" indent="0" lvl="0">
              <a:lnSpc>
                <a:spcPts val="2896"/>
              </a:lnSpc>
              <a:spcBef>
                <a:spcPct val="0"/>
              </a:spcBef>
            </a:pPr>
            <a:r>
              <a:rPr lang="en-US" sz="1810" spc="-72" strike="noStrike" u="non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kế thừa, đa hình để mô</a:t>
            </a:r>
          </a:p>
          <a:p>
            <a:pPr algn="l" marL="0" indent="0" lvl="0">
              <a:lnSpc>
                <a:spcPts val="2896"/>
              </a:lnSpc>
              <a:spcBef>
                <a:spcPct val="0"/>
              </a:spcBef>
            </a:pPr>
            <a:r>
              <a:rPr lang="en-US" sz="1810" spc="-72" strike="noStrike" u="none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hình hóa Sensor, Pond, Farm.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1598" y="6209369"/>
            <a:ext cx="5239206" cy="2579949"/>
          </a:xfrm>
          <a:custGeom>
            <a:avLst/>
            <a:gdLst/>
            <a:ahLst/>
            <a:cxnLst/>
            <a:rect r="r" b="b" t="t" l="l"/>
            <a:pathLst>
              <a:path h="2579949" w="5239206">
                <a:moveTo>
                  <a:pt x="0" y="0"/>
                </a:moveTo>
                <a:lnTo>
                  <a:pt x="5239206" y="0"/>
                </a:lnTo>
                <a:lnTo>
                  <a:pt x="523920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1598" y="6428009"/>
            <a:ext cx="1312536" cy="2153601"/>
          </a:xfrm>
          <a:custGeom>
            <a:avLst/>
            <a:gdLst/>
            <a:ahLst/>
            <a:cxnLst/>
            <a:rect r="r" b="b" t="t" l="l"/>
            <a:pathLst>
              <a:path h="2153601" w="1312536">
                <a:moveTo>
                  <a:pt x="0" y="0"/>
                </a:moveTo>
                <a:lnTo>
                  <a:pt x="1312536" y="0"/>
                </a:lnTo>
                <a:lnTo>
                  <a:pt x="131253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19558" y="7182633"/>
            <a:ext cx="741829" cy="6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b="true" sz="5000" spc="-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12852" y="6746923"/>
            <a:ext cx="348257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b="true" sz="2188" spc="-21">
                <a:solidFill>
                  <a:srgbClr val="233B58"/>
                </a:solidFill>
                <a:latin typeface="DM Sans Bold"/>
                <a:ea typeface="DM Sans Bold"/>
                <a:cs typeface="DM Sans Bold"/>
                <a:sym typeface="DM Sans Bold"/>
              </a:rPr>
              <a:t>TRỰC QUAN HÓA DỮ LIỆU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81608" y="7134237"/>
            <a:ext cx="3124329" cy="104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Java Swing, Graphics2D</a:t>
            </a:r>
          </a:p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và JFreeChart kết hợp</a:t>
            </a:r>
          </a:p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dashboard, đồng hồ, biểu đồ.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529866" y="3640352"/>
            <a:ext cx="5447024" cy="2579949"/>
          </a:xfrm>
          <a:custGeom>
            <a:avLst/>
            <a:gdLst/>
            <a:ahLst/>
            <a:cxnLst/>
            <a:rect r="r" b="b" t="t" l="l"/>
            <a:pathLst>
              <a:path h="2579949" w="5447024">
                <a:moveTo>
                  <a:pt x="0" y="0"/>
                </a:moveTo>
                <a:lnTo>
                  <a:pt x="5447024" y="0"/>
                </a:lnTo>
                <a:lnTo>
                  <a:pt x="544702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29866" y="3848060"/>
            <a:ext cx="1531292" cy="2153601"/>
          </a:xfrm>
          <a:custGeom>
            <a:avLst/>
            <a:gdLst/>
            <a:ahLst/>
            <a:cxnLst/>
            <a:rect r="r" b="b" t="t" l="l"/>
            <a:pathLst>
              <a:path h="2153601" w="1531292">
                <a:moveTo>
                  <a:pt x="0" y="0"/>
                </a:moveTo>
                <a:lnTo>
                  <a:pt x="1531292" y="0"/>
                </a:lnTo>
                <a:lnTo>
                  <a:pt x="153129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877515" y="4652412"/>
            <a:ext cx="727456" cy="6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b="true" sz="5000" spc="-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51031" y="4201641"/>
            <a:ext cx="348257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b="true" sz="2188" spc="-21">
                <a:solidFill>
                  <a:srgbClr val="233B58"/>
                </a:solidFill>
                <a:latin typeface="DM Sans Bold"/>
                <a:ea typeface="DM Sans Bold"/>
                <a:cs typeface="DM Sans Bold"/>
                <a:sym typeface="DM Sans Bold"/>
              </a:rPr>
              <a:t>TỔ CHỨC KIẾN TRÚC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23974" y="4604016"/>
            <a:ext cx="2705701" cy="104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Observer phân phối</a:t>
            </a:r>
          </a:p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sự kiện; Singleton quản lý</a:t>
            </a:r>
          </a:p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tài nguyên tập trung.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529866" y="6209369"/>
            <a:ext cx="5447024" cy="2579949"/>
          </a:xfrm>
          <a:custGeom>
            <a:avLst/>
            <a:gdLst/>
            <a:ahLst/>
            <a:cxnLst/>
            <a:rect r="r" b="b" t="t" l="l"/>
            <a:pathLst>
              <a:path h="2579949" w="5447024">
                <a:moveTo>
                  <a:pt x="0" y="0"/>
                </a:moveTo>
                <a:lnTo>
                  <a:pt x="5447024" y="0"/>
                </a:lnTo>
                <a:lnTo>
                  <a:pt x="544702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29866" y="6428009"/>
            <a:ext cx="1531292" cy="2153601"/>
          </a:xfrm>
          <a:custGeom>
            <a:avLst/>
            <a:gdLst/>
            <a:ahLst/>
            <a:cxnLst/>
            <a:rect r="r" b="b" t="t" l="l"/>
            <a:pathLst>
              <a:path h="2153601" w="1531292">
                <a:moveTo>
                  <a:pt x="0" y="0"/>
                </a:moveTo>
                <a:lnTo>
                  <a:pt x="1531292" y="0"/>
                </a:lnTo>
                <a:lnTo>
                  <a:pt x="153129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876946" y="7182633"/>
            <a:ext cx="784295" cy="6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b="true" sz="5000" spc="-48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51031" y="6746923"/>
            <a:ext cx="348257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b="true" sz="2188" spc="-21">
                <a:solidFill>
                  <a:srgbClr val="233B58"/>
                </a:solidFill>
                <a:latin typeface="DM Sans Bold"/>
                <a:ea typeface="DM Sans Bold"/>
                <a:cs typeface="DM Sans Bold"/>
                <a:sym typeface="DM Sans Bold"/>
              </a:rPr>
              <a:t>KIỂM SOÁT VẬN HÀNH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17175" y="7134237"/>
            <a:ext cx="3385601" cy="104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LinkedList giới hạn 200 bản ghi;</a:t>
            </a:r>
          </a:p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Swing Timer cập nhật định kỳ;</a:t>
            </a:r>
          </a:p>
          <a:p>
            <a:pPr algn="l">
              <a:lnSpc>
                <a:spcPts val="2896"/>
              </a:lnSpc>
            </a:pPr>
            <a:r>
              <a:rPr lang="en-US" sz="1810" spc="-72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ngoại lệ chặn cấu hình sai.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67592" y="9241543"/>
            <a:ext cx="3758022" cy="63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1863" spc="-18">
                <a:solidFill>
                  <a:srgbClr val="F4F4F4"/>
                </a:solidFill>
                <a:latin typeface="DM Sans"/>
                <a:ea typeface="DM Sans"/>
                <a:cs typeface="DM Sans"/>
                <a:sym typeface="DM Sans"/>
              </a:rPr>
              <a:t>Ghi chú: Callback Timer chạy trên EDT; tác vụ nặng cần xử lý riêng.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12852" y="4201641"/>
            <a:ext cx="3482578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8"/>
              </a:lnSpc>
              <a:spcBef>
                <a:spcPct val="0"/>
              </a:spcBef>
            </a:pPr>
            <a:r>
              <a:rPr lang="en-US" b="true" sz="2188" spc="-21" strike="noStrike" u="none">
                <a:solidFill>
                  <a:srgbClr val="233B58"/>
                </a:solidFill>
                <a:latin typeface="DM Sans Bold"/>
                <a:ea typeface="DM Sans Bold"/>
                <a:cs typeface="DM Sans Bold"/>
                <a:sym typeface="DM Sans Bold"/>
              </a:rPr>
              <a:t>VẬN DỤNG OOP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4983749" y="1297465"/>
            <a:ext cx="485534" cy="719310"/>
          </a:xfrm>
          <a:custGeom>
            <a:avLst/>
            <a:gdLst/>
            <a:ahLst/>
            <a:cxnLst/>
            <a:rect r="r" b="b" t="t" l="l"/>
            <a:pathLst>
              <a:path h="719310" w="485534">
                <a:moveTo>
                  <a:pt x="0" y="0"/>
                </a:moveTo>
                <a:lnTo>
                  <a:pt x="485535" y="0"/>
                </a:lnTo>
                <a:lnTo>
                  <a:pt x="485535" y="719310"/>
                </a:lnTo>
                <a:lnTo>
                  <a:pt x="0" y="71931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96" t="-9875" r="-2561" b="-1629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0369" y="-151167"/>
            <a:ext cx="18871889" cy="12071937"/>
            <a:chOff x="0" y="0"/>
            <a:chExt cx="4970374" cy="31794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0374" cy="3179440"/>
            </a:xfrm>
            <a:custGeom>
              <a:avLst/>
              <a:gdLst/>
              <a:ahLst/>
              <a:cxnLst/>
              <a:rect r="r" b="b" t="t" l="l"/>
              <a:pathLst>
                <a:path h="3179440" w="4970374">
                  <a:moveTo>
                    <a:pt x="0" y="0"/>
                  </a:moveTo>
                  <a:lnTo>
                    <a:pt x="4970374" y="0"/>
                  </a:lnTo>
                  <a:lnTo>
                    <a:pt x="4970374" y="3179440"/>
                  </a:lnTo>
                  <a:lnTo>
                    <a:pt x="0" y="3179440"/>
                  </a:lnTo>
                  <a:close/>
                </a:path>
              </a:pathLst>
            </a:custGeom>
            <a:gradFill rotWithShape="true">
              <a:gsLst>
                <a:gs pos="0">
                  <a:srgbClr val="CFAE00">
                    <a:alpha val="0"/>
                  </a:srgbClr>
                </a:gs>
                <a:gs pos="100000">
                  <a:srgbClr val="0159C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70374" cy="3217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10263" y="2704290"/>
            <a:ext cx="15267475" cy="435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5"/>
              </a:lnSpc>
              <a:spcBef>
                <a:spcPct val="0"/>
              </a:spcBef>
            </a:pPr>
            <a:r>
              <a:rPr lang="en-US" b="true" sz="25368">
                <a:solidFill>
                  <a:srgbClr val="FFFFFF"/>
                </a:solidFill>
                <a:latin typeface="Bricolage Grotesque 28 Bold"/>
                <a:ea typeface="Bricolage Grotesque 28 Bold"/>
                <a:cs typeface="Bricolage Grotesque 28 Bold"/>
                <a:sym typeface="Bricolage Grotesque 28 Bold"/>
              </a:rPr>
              <a:t>Cảm 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04746" y="1712062"/>
            <a:ext cx="11278507" cy="247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37"/>
              </a:lnSpc>
              <a:spcBef>
                <a:spcPct val="0"/>
              </a:spcBef>
            </a:pPr>
            <a:r>
              <a:rPr lang="en-US" b="true" sz="12955">
                <a:solidFill>
                  <a:srgbClr val="FFFFFF"/>
                </a:solidFill>
                <a:latin typeface="Respondent Medium"/>
                <a:ea typeface="Respondent Medium"/>
                <a:cs typeface="Respondent Medium"/>
                <a:sym typeface="Respondent Medium"/>
              </a:rPr>
              <a:t>Xin Trân Trọng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93338" y="7054930"/>
            <a:ext cx="9701325" cy="1798885"/>
            <a:chOff x="0" y="0"/>
            <a:chExt cx="1512382" cy="2804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2382" cy="280436"/>
            </a:xfrm>
            <a:custGeom>
              <a:avLst/>
              <a:gdLst/>
              <a:ahLst/>
              <a:cxnLst/>
              <a:rect r="r" b="b" t="t" l="l"/>
              <a:pathLst>
                <a:path h="280436" w="1512382">
                  <a:moveTo>
                    <a:pt x="79803" y="0"/>
                  </a:moveTo>
                  <a:lnTo>
                    <a:pt x="1432579" y="0"/>
                  </a:lnTo>
                  <a:cubicBezTo>
                    <a:pt x="1476653" y="0"/>
                    <a:pt x="1512382" y="35729"/>
                    <a:pt x="1512382" y="79803"/>
                  </a:cubicBezTo>
                  <a:lnTo>
                    <a:pt x="1512382" y="200633"/>
                  </a:lnTo>
                  <a:cubicBezTo>
                    <a:pt x="1512382" y="244707"/>
                    <a:pt x="1476653" y="280436"/>
                    <a:pt x="1432579" y="280436"/>
                  </a:cubicBezTo>
                  <a:lnTo>
                    <a:pt x="79803" y="280436"/>
                  </a:lnTo>
                  <a:cubicBezTo>
                    <a:pt x="35729" y="280436"/>
                    <a:pt x="0" y="244707"/>
                    <a:pt x="0" y="200633"/>
                  </a:cubicBezTo>
                  <a:lnTo>
                    <a:pt x="0" y="79803"/>
                  </a:lnTo>
                  <a:cubicBezTo>
                    <a:pt x="0" y="35729"/>
                    <a:pt x="35729" y="0"/>
                    <a:pt x="7980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12382" cy="328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36923" y="7337852"/>
            <a:ext cx="8614154" cy="125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6"/>
              </a:lnSpc>
            </a:pPr>
            <a:r>
              <a:rPr lang="en-US" b="true" sz="4217">
                <a:solidFill>
                  <a:srgbClr val="015ACF"/>
                </a:solidFill>
                <a:latin typeface="Bricolage Grotesque 28 Bold"/>
                <a:ea typeface="Bricolage Grotesque 28 Bold"/>
                <a:cs typeface="Bricolage Grotesque 28 Bold"/>
                <a:sym typeface="Bricolage Grotesque 28 Bold"/>
              </a:rPr>
              <a:t>Thầy và bạn bè đã lắng nghe. Mời mọi người đặt câu hỏi.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DAHZN0FgLQg</dc:identifier>
  <dcterms:modified xsi:type="dcterms:W3CDTF">2011-08-01T06:04:30Z</dcterms:modified>
  <cp:revision>1</cp:revision>
  <dc:title>Giám sát ao tôm IoT</dc:title>
</cp:coreProperties>
</file>